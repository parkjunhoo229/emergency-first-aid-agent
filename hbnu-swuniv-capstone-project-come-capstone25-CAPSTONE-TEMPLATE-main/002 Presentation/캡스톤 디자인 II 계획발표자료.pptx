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7" r:id="rId1"/>
  </p:sldMasterIdLst>
  <p:notesMasterIdLst>
    <p:notesMasterId r:id="rId32"/>
  </p:notesMasterIdLst>
  <p:sldIdLst>
    <p:sldId id="260" r:id="rId2"/>
    <p:sldId id="323" r:id="rId3"/>
    <p:sldId id="387" r:id="rId4"/>
    <p:sldId id="388" r:id="rId5"/>
    <p:sldId id="389" r:id="rId6"/>
    <p:sldId id="393" r:id="rId7"/>
    <p:sldId id="398" r:id="rId8"/>
    <p:sldId id="401" r:id="rId9"/>
    <p:sldId id="410" r:id="rId10"/>
    <p:sldId id="404" r:id="rId11"/>
    <p:sldId id="411" r:id="rId12"/>
    <p:sldId id="412" r:id="rId13"/>
    <p:sldId id="405" r:id="rId14"/>
    <p:sldId id="416" r:id="rId15"/>
    <p:sldId id="406" r:id="rId16"/>
    <p:sldId id="414" r:id="rId17"/>
    <p:sldId id="413" r:id="rId18"/>
    <p:sldId id="407" r:id="rId19"/>
    <p:sldId id="415" r:id="rId20"/>
    <p:sldId id="408" r:id="rId21"/>
    <p:sldId id="417" r:id="rId22"/>
    <p:sldId id="409" r:id="rId23"/>
    <p:sldId id="418" r:id="rId24"/>
    <p:sldId id="390" r:id="rId25"/>
    <p:sldId id="394" r:id="rId26"/>
    <p:sldId id="397" r:id="rId27"/>
    <p:sldId id="395" r:id="rId28"/>
    <p:sldId id="391" r:id="rId29"/>
    <p:sldId id="392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긴급신고 대상 112 경찰의 신속대응방안에 관한 연구, 치안정책연구소20" id="{DACBC49F-978F-4482-8798-3E213988985E}">
          <p14:sldIdLst>
            <p14:sldId id="260"/>
            <p14:sldId id="323"/>
            <p14:sldId id="387"/>
            <p14:sldId id="388"/>
            <p14:sldId id="389"/>
            <p14:sldId id="393"/>
            <p14:sldId id="398"/>
            <p14:sldId id="401"/>
            <p14:sldId id="410"/>
            <p14:sldId id="404"/>
            <p14:sldId id="411"/>
            <p14:sldId id="412"/>
            <p14:sldId id="405"/>
            <p14:sldId id="416"/>
            <p14:sldId id="406"/>
            <p14:sldId id="414"/>
            <p14:sldId id="413"/>
            <p14:sldId id="407"/>
            <p14:sldId id="415"/>
            <p14:sldId id="408"/>
            <p14:sldId id="417"/>
            <p14:sldId id="409"/>
            <p14:sldId id="418"/>
            <p14:sldId id="390"/>
            <p14:sldId id="394"/>
            <p14:sldId id="397"/>
            <p14:sldId id="395"/>
            <p14:sldId id="391"/>
            <p14:sldId id="392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617">
          <p15:clr>
            <a:srgbClr val="A4A3A4"/>
          </p15:clr>
        </p15:guide>
        <p15:guide id="3" pos="3839">
          <p15:clr>
            <a:srgbClr val="A4A3A4"/>
          </p15:clr>
        </p15:guide>
        <p15:guide id="4" pos="3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99" autoAdjust="0"/>
    <p:restoredTop sz="95757" autoAdjust="0"/>
  </p:normalViewPr>
  <p:slideViewPr>
    <p:cSldViewPr snapToGrid="0">
      <p:cViewPr varScale="1">
        <p:scale>
          <a:sx n="117" d="100"/>
          <a:sy n="117" d="100"/>
        </p:scale>
        <p:origin x="456" y="96"/>
      </p:cViewPr>
      <p:guideLst>
        <p:guide orient="horz" pos="2159"/>
        <p:guide orient="horz" pos="617"/>
        <p:guide pos="3839"/>
        <p:guide pos="3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85" d="100"/>
        <a:sy n="18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0E54E21-611D-C04D-9334-004A162C87B3}" type="datetime1">
              <a:rPr kumimoji="1" lang="ko-KR" altLang="en-US"/>
              <a:pPr lvl="0">
                <a:defRPr/>
              </a:pPr>
              <a:t>2025-06-30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kumimoji="1" lang="ko-KR" altLang="en-US"/>
              <a:t>마스터 텍스트 스타일을 편집하려면 클릭</a:t>
            </a:r>
          </a:p>
          <a:p>
            <a:pPr lvl="1">
              <a:defRPr/>
            </a:pPr>
            <a:r>
              <a:rPr kumimoji="1" lang="ko-KR" altLang="en-US"/>
              <a:t>두 번째 수준</a:t>
            </a:r>
          </a:p>
          <a:p>
            <a:pPr lvl="2">
              <a:defRPr/>
            </a:pPr>
            <a:r>
              <a:rPr kumimoji="1" lang="ko-KR" altLang="en-US"/>
              <a:t>세 번째 수준</a:t>
            </a:r>
          </a:p>
          <a:p>
            <a:pPr lvl="3">
              <a:defRPr/>
            </a:pPr>
            <a:r>
              <a:rPr kumimoji="1" lang="ko-KR" altLang="en-US"/>
              <a:t>네 번째 수준</a:t>
            </a:r>
          </a:p>
          <a:p>
            <a:pPr lvl="4">
              <a:defRPr/>
            </a:pPr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A1E7A53-FE67-AF4B-9521-15AAABA35350}" type="slidenum">
              <a:rPr kumimoji="1" lang="ko-KR" altLang="en-US"/>
              <a:pPr lvl="0">
                <a:defRPr/>
              </a:pPr>
              <a:t>‹#›</a:t>
            </a:fld>
            <a:endParaRPr kumimoji="1"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en-US" altLang="en-US"/>
              <a:pPr lvl="0">
                <a:defRPr/>
              </a:pPr>
              <a:t>1</a:t>
            </a:fld>
            <a:endParaRPr kumimoji="1"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5755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717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A34D-656C-BB52-0E88-893D071D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B27A76-1784-08DE-6CF0-DDDBE1C77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8FD3D3-C05D-5F49-8C55-E8B1A4CFC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46C2C6-D32B-A764-38BE-D4C1DD051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6237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E7A53-FE67-AF4B-9521-15AAABA35350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5905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717260"/>
            <a:ext cx="6009861" cy="76793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691742"/>
            <a:ext cx="6009861" cy="5293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14" name="그림 13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DDFF9E73-E9D1-327C-7B7A-5E09132DD2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14CCBF-8C07-5287-B78C-3500C54DF47B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9F282A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A3A6C1-A1DC-3748-9B73-E36BE01DDC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2909" y="348839"/>
            <a:ext cx="470335" cy="3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9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FABF87-51CA-0E01-1527-A03075C21269}"/>
              </a:ext>
            </a:extLst>
          </p:cNvPr>
          <p:cNvSpPr/>
          <p:nvPr userDrawn="1"/>
        </p:nvSpPr>
        <p:spPr>
          <a:xfrm>
            <a:off x="-412" y="0"/>
            <a:ext cx="6630652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E445B9-9853-E275-B771-9124F4D8F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8" y="867585"/>
            <a:ext cx="5864088" cy="5662420"/>
          </a:xfrm>
        </p:spPr>
        <p:txBody>
          <a:bodyPr>
            <a:normAutofit/>
          </a:bodyPr>
          <a:lstStyle>
            <a:lvl1pPr marL="342900" indent="-342900">
              <a:lnSpc>
                <a:spcPct val="130000"/>
              </a:lnSpc>
              <a:buFont typeface="Arial" panose="020B0604020202020204" pitchFamily="34" charset="0"/>
              <a:buChar char="•"/>
              <a:defRPr sz="2800" b="0" i="0" baseline="0">
                <a:solidFill>
                  <a:schemeClr val="bg1"/>
                </a:solidFill>
                <a:latin typeface="Montserrat" pitchFamily="2" charset="0"/>
                <a:ea typeface="맑은 고딕" panose="020B0503020000020004" pitchFamily="34" charset="-127"/>
              </a:defRPr>
            </a:lvl1pPr>
            <a:lvl2pPr marL="800100" indent="-342900">
              <a:lnSpc>
                <a:spcPct val="130000"/>
              </a:lnSpc>
              <a:buFont typeface="Wingdings" pitchFamily="2" charset="2"/>
              <a:buChar char="§"/>
              <a:defRPr sz="2400" b="0" i="0" baseline="0">
                <a:solidFill>
                  <a:schemeClr val="bg1"/>
                </a:solidFill>
                <a:latin typeface="Montserrat" pitchFamily="2" charset="0"/>
                <a:ea typeface="맑은 고딕" panose="020B0503020000020004" pitchFamily="34" charset="-127"/>
              </a:defRPr>
            </a:lvl2pPr>
            <a:lvl3pPr>
              <a:defRPr sz="1600" b="0" i="0">
                <a:latin typeface="Montserrat Light" pitchFamily="2" charset="0"/>
              </a:defRPr>
            </a:lvl3pPr>
            <a:lvl4pPr>
              <a:defRPr sz="1600" b="0" i="0">
                <a:latin typeface="Montserrat Light" pitchFamily="2" charset="0"/>
              </a:defRPr>
            </a:lvl4pPr>
            <a:lvl5pPr>
              <a:defRPr sz="1600" b="0" i="0">
                <a:latin typeface="Montserrat Light" pitchFamily="2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742B18-DDC6-7209-72A6-9EF666DB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8" y="216261"/>
            <a:ext cx="5864087" cy="481467"/>
          </a:xfrm>
        </p:spPr>
        <p:txBody>
          <a:bodyPr>
            <a:noAutofit/>
          </a:bodyPr>
          <a:lstStyle>
            <a:lvl1pPr>
              <a:defRPr sz="3200" b="0" i="0" baseline="0">
                <a:solidFill>
                  <a:schemeClr val="bg1"/>
                </a:solidFill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6" name="그림 5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75EEC2CB-D5B2-6AED-1268-A066F303E5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E3CC6-E7DF-52CB-0B87-6962AAD3CF0F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4A2BA9-56CE-C45D-E511-DE5316B82A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3269" y="375945"/>
            <a:ext cx="328446" cy="2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7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65485"/>
            <a:ext cx="11277599" cy="481467"/>
          </a:xfrm>
        </p:spPr>
        <p:txBody>
          <a:bodyPr>
            <a:noAutofit/>
          </a:bodyPr>
          <a:lstStyle>
            <a:lvl1pPr>
              <a:defRPr sz="32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9687"/>
            <a:ext cx="11277600" cy="5280322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2400" b="0" i="0" baseline="0">
                <a:latin typeface="Montserrat" pitchFamily="2" charset="0"/>
                <a:ea typeface="맑은 고딕" panose="020B0503020000020004" pitchFamily="34" charset="-127"/>
              </a:defRPr>
            </a:lvl1pPr>
            <a:lvl2pPr marL="505800">
              <a:lnSpc>
                <a:spcPct val="130000"/>
              </a:lnSpc>
              <a:defRPr sz="2400" b="0" i="0" baseline="0">
                <a:latin typeface="Montserrat" pitchFamily="2" charset="0"/>
                <a:ea typeface="맑은 고딕" panose="020B0503020000020004" pitchFamily="34" charset="-127"/>
              </a:defRPr>
            </a:lvl2pPr>
            <a:lvl3pPr marL="828000">
              <a:lnSpc>
                <a:spcPct val="130000"/>
              </a:lnSpc>
              <a:defRPr sz="2000" b="0" i="0" baseline="0">
                <a:latin typeface="Montserrat" pitchFamily="2" charset="0"/>
                <a:ea typeface="맑은 고딕" panose="020B0503020000020004" pitchFamily="34" charset="-127"/>
              </a:defRPr>
            </a:lvl3pPr>
            <a:lvl4pPr marL="1116000">
              <a:lnSpc>
                <a:spcPct val="130000"/>
              </a:lnSpc>
              <a:defRPr sz="2000" b="0" i="0" baseline="0">
                <a:latin typeface="Montserrat" pitchFamily="2" charset="0"/>
                <a:ea typeface="맑은 고딕" panose="020B0503020000020004" pitchFamily="34" charset="-127"/>
              </a:defRPr>
            </a:lvl4pPr>
            <a:lvl5pPr marL="1440000">
              <a:lnSpc>
                <a:spcPct val="130000"/>
              </a:lnSpc>
              <a:defRPr sz="2000" b="0" i="0" baseline="0">
                <a:latin typeface="Montserrat" pitchFamily="2" charset="0"/>
                <a:ea typeface="맑은 고딕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3DA2AA45-5AC3-2FA9-EE6E-AC04ABD53094}"/>
              </a:ext>
            </a:extLst>
          </p:cNvPr>
          <p:cNvCxnSpPr>
            <a:cxnSpLocks/>
          </p:cNvCxnSpPr>
          <p:nvPr userDrawn="1"/>
        </p:nvCxnSpPr>
        <p:spPr>
          <a:xfrm>
            <a:off x="457200" y="556760"/>
            <a:ext cx="11277599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52E7674-E8A0-3DC2-EEF7-DEFE9B591A9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57199" y="208724"/>
            <a:ext cx="8153404" cy="243096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Montserrat Medium" pitchFamily="2" charset="0"/>
              </a:defRPr>
            </a:lvl1pPr>
            <a:lvl2pPr>
              <a:defRPr sz="1800" b="0" i="0">
                <a:latin typeface="Montserrat Light" pitchFamily="2" charset="0"/>
              </a:defRPr>
            </a:lvl2pPr>
            <a:lvl3pPr>
              <a:defRPr sz="1600" b="0" i="0">
                <a:latin typeface="Montserrat Light" pitchFamily="2" charset="0"/>
              </a:defRPr>
            </a:lvl3pPr>
            <a:lvl4pPr>
              <a:defRPr sz="1600" b="0" i="0">
                <a:latin typeface="Montserrat Light" pitchFamily="2" charset="0"/>
              </a:defRPr>
            </a:lvl4pPr>
            <a:lvl5pPr>
              <a:defRPr sz="1600" b="0" i="0">
                <a:latin typeface="Montserrat Light" pitchFamily="2" charset="0"/>
              </a:defRPr>
            </a:lvl5pPr>
          </a:lstStyle>
          <a:p>
            <a:pPr lvl="0"/>
            <a:r>
              <a:rPr lang="en-US" dirty="0"/>
              <a:t>Chapters</a:t>
            </a:r>
          </a:p>
        </p:txBody>
      </p:sp>
      <p:pic>
        <p:nvPicPr>
          <p:cNvPr id="9" name="그림 8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608824DE-D7A6-87A0-2388-BF9FE22B27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93759" y="80034"/>
            <a:ext cx="341037" cy="3434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09792F-F0FF-356D-87B7-AAFF48E30A56}"/>
              </a:ext>
            </a:extLst>
          </p:cNvPr>
          <p:cNvSpPr txBox="1"/>
          <p:nvPr userDrawn="1"/>
        </p:nvSpPr>
        <p:spPr>
          <a:xfrm>
            <a:off x="9391649" y="51705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01235A-3225-943E-C45B-9B6C0447DD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8234" y="130211"/>
            <a:ext cx="328446" cy="2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7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E445B9-9853-E275-B771-9124F4D8F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7" y="867585"/>
            <a:ext cx="11267665" cy="5662420"/>
          </a:xfrm>
        </p:spPr>
        <p:txBody>
          <a:bodyPr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sz="2400" b="0" i="0" baseline="0">
                <a:latin typeface="Montserrat" pitchFamily="2" charset="0"/>
                <a:ea typeface="맑은 고딕" panose="020B0503020000020004" pitchFamily="34" charset="-127"/>
              </a:defRPr>
            </a:lvl1pPr>
            <a:lvl2pPr marL="800100" indent="-342900">
              <a:lnSpc>
                <a:spcPct val="130000"/>
              </a:lnSpc>
              <a:buFont typeface="+mj-lt"/>
              <a:buAutoNum type="arabicParenR"/>
              <a:defRPr sz="2400" b="0" i="0" baseline="0">
                <a:latin typeface="Montserrat" pitchFamily="2" charset="0"/>
                <a:ea typeface="맑은 고딕" panose="020B0503020000020004" pitchFamily="34" charset="-127"/>
              </a:defRPr>
            </a:lvl2pPr>
            <a:lvl3pPr>
              <a:defRPr sz="1600" b="0" i="0">
                <a:latin typeface="Montserrat Light" pitchFamily="2" charset="0"/>
              </a:defRPr>
            </a:lvl3pPr>
            <a:lvl4pPr>
              <a:defRPr sz="1600" b="0" i="0">
                <a:latin typeface="Montserrat Light" pitchFamily="2" charset="0"/>
              </a:defRPr>
            </a:lvl4pPr>
            <a:lvl5pPr>
              <a:defRPr sz="1600" b="0" i="0">
                <a:latin typeface="Montserrat Light" pitchFamily="2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3182FE9-07AA-E49B-9310-8B73D9A1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3F9B09D2-CABE-A99A-9462-FDADEAEEA804}"/>
              </a:ext>
            </a:extLst>
          </p:cNvPr>
          <p:cNvCxnSpPr>
            <a:cxnSpLocks/>
          </p:cNvCxnSpPr>
          <p:nvPr userDrawn="1"/>
        </p:nvCxnSpPr>
        <p:spPr>
          <a:xfrm>
            <a:off x="457203" y="774095"/>
            <a:ext cx="11277599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17742B18-DDC6-7209-72A6-9EF666DB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8" y="216261"/>
            <a:ext cx="8143465" cy="481467"/>
          </a:xfrm>
        </p:spPr>
        <p:txBody>
          <a:bodyPr>
            <a:noAutofit/>
          </a:bodyPr>
          <a:lstStyle>
            <a:lvl1pPr>
              <a:defRPr sz="32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6" name="그림 5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75EEC2CB-D5B2-6AED-1268-A066F303E5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4E80D6-59A8-51B9-6626-338ADFCADFC4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FEB492-9F33-F64B-5684-4D965C6094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3269" y="375945"/>
            <a:ext cx="328446" cy="2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7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1886E5-8F90-AD5E-1A21-7E7CC066CA0D}"/>
              </a:ext>
            </a:extLst>
          </p:cNvPr>
          <p:cNvSpPr/>
          <p:nvPr userDrawn="1"/>
        </p:nvSpPr>
        <p:spPr>
          <a:xfrm>
            <a:off x="6636027" y="0"/>
            <a:ext cx="5560532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E445B9-9853-E275-B771-9124F4D8F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8" y="867585"/>
            <a:ext cx="5864088" cy="5662420"/>
          </a:xfrm>
        </p:spPr>
        <p:txBody>
          <a:bodyPr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sz="2800" b="0" i="0" baseline="0">
                <a:latin typeface="Montserrat" pitchFamily="2" charset="0"/>
                <a:ea typeface="맑은 고딕" panose="020B0503020000020004" pitchFamily="34" charset="-127"/>
              </a:defRPr>
            </a:lvl1pPr>
            <a:lvl2pPr marL="800100" indent="-342900">
              <a:lnSpc>
                <a:spcPct val="130000"/>
              </a:lnSpc>
              <a:buFont typeface="+mj-lt"/>
              <a:buAutoNum type="arabicParenR"/>
              <a:defRPr sz="2800" b="0" i="0" baseline="0">
                <a:latin typeface="Montserrat" pitchFamily="2" charset="0"/>
                <a:ea typeface="맑은 고딕" panose="020B0503020000020004" pitchFamily="34" charset="-127"/>
              </a:defRPr>
            </a:lvl2pPr>
            <a:lvl3pPr>
              <a:defRPr sz="1600" b="0" i="0">
                <a:latin typeface="Montserrat Light" pitchFamily="2" charset="0"/>
              </a:defRPr>
            </a:lvl3pPr>
            <a:lvl4pPr>
              <a:defRPr sz="1600" b="0" i="0">
                <a:latin typeface="Montserrat Light" pitchFamily="2" charset="0"/>
              </a:defRPr>
            </a:lvl4pPr>
            <a:lvl5pPr>
              <a:defRPr sz="1600" b="0" i="0">
                <a:latin typeface="Montserrat Light" pitchFamily="2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742B18-DDC6-7209-72A6-9EF666DB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8" y="216261"/>
            <a:ext cx="5864087" cy="481467"/>
          </a:xfrm>
        </p:spPr>
        <p:txBody>
          <a:bodyPr>
            <a:noAutofit/>
          </a:bodyPr>
          <a:lstStyle>
            <a:lvl1pPr>
              <a:defRPr sz="32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6" name="그림 5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75EEC2CB-D5B2-6AED-1268-A066F303E5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4E80D6-59A8-51B9-6626-338ADFCADFC4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DF5E5A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solidFill>
                  <a:schemeClr val="bg1"/>
                </a:solidFill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DF5E5A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solidFill>
                  <a:schemeClr val="bg1"/>
                </a:solidFill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solidFill>
                  <a:schemeClr val="bg1"/>
                </a:solidFill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F1E5B42-5B05-96D0-3CBE-64498594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C69936-1CF7-8B41-99CC-EA13D2E0EB90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7F7132-708D-5B56-4FB7-D0CFA7285D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3518" y="375944"/>
            <a:ext cx="328931" cy="24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6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4526F982-1F90-AF93-6401-AD29EB3494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F683F-E331-2A49-1274-4F24074BA4F7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38AC26E-016B-AE7A-CF3F-12023C4291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91069" y="2121291"/>
            <a:ext cx="6009861" cy="52939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36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감사합니다</a:t>
            </a:r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F3EE76-07A0-03C0-ADEC-3EE18D6F83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2909" y="348839"/>
            <a:ext cx="470335" cy="3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2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67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605B3A33-AB95-BF29-FC2E-DBB943CEAE9D}"/>
              </a:ext>
            </a:extLst>
          </p:cNvPr>
          <p:cNvCxnSpPr>
            <a:cxnSpLocks/>
          </p:cNvCxnSpPr>
          <p:nvPr userDrawn="1"/>
        </p:nvCxnSpPr>
        <p:spPr>
          <a:xfrm>
            <a:off x="457203" y="774095"/>
            <a:ext cx="11277599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E92327C2-7B55-78B3-6BB1-A9B8178B6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93765" y="335667"/>
            <a:ext cx="341037" cy="343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B1AB1C-DFCF-1062-BC9B-6656D69446AA}"/>
              </a:ext>
            </a:extLst>
          </p:cNvPr>
          <p:cNvSpPr txBox="1"/>
          <p:nvPr userDrawn="1"/>
        </p:nvSpPr>
        <p:spPr>
          <a:xfrm>
            <a:off x="9391655" y="307338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DF5E5A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DF5E5A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0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811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009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2667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5478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7564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3231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0426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6046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E740A2-DD4F-934A-FECD-F728F01E1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1074185"/>
          </a:xfrm>
        </p:spPr>
        <p:txBody>
          <a:bodyPr anchor="b"/>
          <a:lstStyle>
            <a:lvl1pPr algn="ctr">
              <a:defRPr sz="4500" b="1" i="0">
                <a:latin typeface="Montserrat SemiBold" pitchFamily="2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21582B-FBA9-1252-85F6-322E97D98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26786"/>
            <a:ext cx="9144000" cy="443188"/>
          </a:xfrm>
        </p:spPr>
        <p:txBody>
          <a:bodyPr/>
          <a:lstStyle>
            <a:lvl1pPr marL="0" indent="0" algn="ctr">
              <a:buNone/>
              <a:defRPr sz="1800" b="1" i="0">
                <a:latin typeface="Montserrat SemiBold" pitchFamily="2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7256F9-B209-D9EF-BE72-4041F8EB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27076-173B-8E9C-17CB-852AA239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Montserrat Light" pitchFamily="2" charset="0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AA520A-3B58-5BE7-A96D-26A3CC12E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2774638A-856C-535D-48AE-2D8527E2D412}"/>
              </a:ext>
            </a:extLst>
          </p:cNvPr>
          <p:cNvSpPr txBox="1">
            <a:spLocks/>
          </p:cNvSpPr>
          <p:nvPr userDrawn="1"/>
        </p:nvSpPr>
        <p:spPr>
          <a:xfrm>
            <a:off x="8153400" y="4158319"/>
            <a:ext cx="2514600" cy="133802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kumimoji="1" lang="ko-KR" altLang="en-US" sz="1800" dirty="0"/>
          </a:p>
        </p:txBody>
      </p:sp>
      <p:pic>
        <p:nvPicPr>
          <p:cNvPr id="7" name="Picture 2" descr="C:\Users\thkim\Desktop\UI_01\re05004.jpg">
            <a:extLst>
              <a:ext uri="{FF2B5EF4-FFF2-40B4-BE49-F238E27FC236}">
                <a16:creationId xmlns:a16="http://schemas.microsoft.com/office/drawing/2014/main" id="{89BA0573-CD7F-FFF9-2A5A-26A72BF0A2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509" y="96840"/>
            <a:ext cx="1686339" cy="41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5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69936-1CF7-8B41-99CC-EA13D2E0EB90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38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6" r:id="rId2"/>
    <p:sldLayoutId id="2147483662" r:id="rId3"/>
    <p:sldLayoutId id="2147483663" r:id="rId4"/>
    <p:sldLayoutId id="2147483684" r:id="rId5"/>
    <p:sldLayoutId id="2147483685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49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parkce@hanbat.ac.k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EB0B4-1ABC-E12D-8767-D9DE78C9E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717260"/>
            <a:ext cx="7810743" cy="767936"/>
          </a:xfrm>
        </p:spPr>
        <p:txBody>
          <a:bodyPr>
            <a:normAutofit/>
          </a:bodyPr>
          <a:lstStyle/>
          <a:p>
            <a:pPr algn="l"/>
            <a:r>
              <a:rPr lang="ko-KR" altLang="en-US"/>
              <a:t>캡스톤 디자인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617DC4-D64F-CE55-5CE9-2A3C45B1F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691742"/>
            <a:ext cx="6389637" cy="115805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96A9B"/>
                </a:solidFill>
                <a:effectLst/>
                <a:uLnTx/>
                <a:uFillTx/>
                <a:latin typeface="Montserrat Medium" pitchFamily="2" charset="0"/>
                <a:ea typeface="맑은 고딕" panose="020B0503020000020004" pitchFamily="34" charset="-127"/>
                <a:cs typeface="+mn-cs"/>
              </a:rPr>
              <a:t>방학 일정</a:t>
            </a:r>
            <a:endParaRPr kumimoji="1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296A9B"/>
              </a:solidFill>
              <a:effectLst/>
              <a:uLnTx/>
              <a:uFillTx/>
              <a:latin typeface="Montserrat Medium" pitchFamily="2" charset="0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F4FAB-5A55-CD45-A31E-A59F81ED0C40}"/>
              </a:ext>
            </a:extLst>
          </p:cNvPr>
          <p:cNvSpPr txBox="1"/>
          <p:nvPr/>
        </p:nvSpPr>
        <p:spPr>
          <a:xfrm>
            <a:off x="6848061" y="4570931"/>
            <a:ext cx="40054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kumimoji="1" lang="en-US" altLang="ko-KR" sz="2000" b="0" i="0" dirty="0">
                <a:latin typeface="Montserrat Medium" pitchFamily="2" charset="0"/>
              </a:rPr>
              <a:t>Junhoo</a:t>
            </a:r>
            <a:r>
              <a:rPr kumimoji="1" lang="ko-KR" altLang="en-US" sz="2000" b="0" i="0" dirty="0">
                <a:latin typeface="Montserrat Medium" pitchFamily="2" charset="0"/>
              </a:rPr>
              <a:t> </a:t>
            </a:r>
            <a:r>
              <a:rPr kumimoji="1" lang="en-US" altLang="ko-KR" sz="2000" b="0" i="0" dirty="0">
                <a:latin typeface="Montserrat Medium" pitchFamily="2" charset="0"/>
              </a:rPr>
              <a:t>Park</a:t>
            </a:r>
            <a:endParaRPr kumimoji="1" lang="en-US" altLang="ko-KR" sz="1400" b="0" i="0" dirty="0">
              <a:latin typeface="Montserrat" pitchFamily="2" charset="0"/>
            </a:endParaRPr>
          </a:p>
          <a:p>
            <a:pPr algn="l">
              <a:lnSpc>
                <a:spcPct val="150000"/>
              </a:lnSpc>
            </a:pPr>
            <a:endParaRPr kumimoji="1" lang="en-US" altLang="ko-KR" sz="1600" dirty="0">
              <a:latin typeface="Montserrat Medium" pitchFamily="2" charset="0"/>
            </a:endParaRPr>
          </a:p>
          <a:p>
            <a:pPr algn="l">
              <a:lnSpc>
                <a:spcPct val="150000"/>
              </a:lnSpc>
            </a:pPr>
            <a:r>
              <a:rPr kumimoji="1" lang="en-US" altLang="ko-KR" sz="1600" dirty="0">
                <a:latin typeface="Montserrat Medium" pitchFamily="2" charset="0"/>
              </a:rPr>
              <a:t>Dept. of Computer Engineering</a:t>
            </a:r>
          </a:p>
          <a:p>
            <a:pPr algn="l">
              <a:lnSpc>
                <a:spcPct val="100000"/>
              </a:lnSpc>
            </a:pPr>
            <a:r>
              <a:rPr kumimoji="1" lang="en-US" altLang="ko-KR" sz="1600" dirty="0">
                <a:latin typeface="Montserrat Medium" pitchFamily="2" charset="0"/>
              </a:rPr>
              <a:t>Hanbat National University, Korea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5F8FF-8C26-7059-5B08-551A0A382500}"/>
              </a:ext>
            </a:extLst>
          </p:cNvPr>
          <p:cNvSpPr txBox="1"/>
          <p:nvPr/>
        </p:nvSpPr>
        <p:spPr>
          <a:xfrm>
            <a:off x="838200" y="3917702"/>
            <a:ext cx="1365438" cy="419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ko-KR" spc="-80">
                <a:latin typeface="Montserrat Medium" pitchFamily="2" charset="0"/>
              </a:rPr>
              <a:t>2025.06.30.</a:t>
            </a:r>
            <a:endParaRPr kumimoji="1" lang="ko-KR" altLang="en-US" spc="-80" dirty="0"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86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E6C6D9E-7B7B-452B-8F40-E7CA78D84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8" y="867585"/>
            <a:ext cx="6259339" cy="5662420"/>
          </a:xfrm>
        </p:spPr>
        <p:txBody>
          <a:bodyPr>
            <a:normAutofit/>
          </a:bodyPr>
          <a:lstStyle/>
          <a:p>
            <a:r>
              <a:rPr kumimoji="1" lang="ko-KR" altLang="en-US" b="1" dirty="0"/>
              <a:t>서론</a:t>
            </a:r>
            <a:endParaRPr kumimoji="1" lang="en-US" altLang="ko-KR" b="1" dirty="0"/>
          </a:p>
          <a:p>
            <a:endParaRPr kumimoji="1" lang="en-US" altLang="ko-KR" b="1" dirty="0"/>
          </a:p>
          <a:p>
            <a:r>
              <a:rPr kumimoji="1" lang="ko-KR" altLang="en-US" b="1" dirty="0"/>
              <a:t>본론</a:t>
            </a:r>
            <a:endParaRPr kumimoji="1" lang="en-US" altLang="ko-KR" b="1" dirty="0"/>
          </a:p>
          <a:p>
            <a:endParaRPr kumimoji="1" lang="en-US" altLang="ko-KR" b="1" dirty="0"/>
          </a:p>
          <a:p>
            <a:r>
              <a:rPr kumimoji="1" lang="ko-KR" altLang="en-US" b="1" dirty="0"/>
              <a:t>결론</a:t>
            </a:r>
            <a:endParaRPr kumimoji="1"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C89DFD4-16E7-0E9C-A5AA-BD82D705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Outline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9664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568C257-0C9F-14DE-CF06-833CA60FC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서론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850709-F63A-F626-CF32-1434C1980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Chapter 1. </a:t>
            </a:r>
            <a:r>
              <a:rPr kumimoji="1"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8D0AD-B575-DC53-2166-F0EC133E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3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210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17378-7646-3577-FAA4-85598D4C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서론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A081A-6682-2512-85AE-F11FD5C4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/>
              <a:t>코드의 진행 방식</a:t>
            </a:r>
            <a:endParaRPr kumimoji="1" lang="en-US" altLang="ko-KR"/>
          </a:p>
          <a:p>
            <a:r>
              <a:rPr kumimoji="1" lang="ko-KR" altLang="en-US"/>
              <a:t>방학 기간 프로젝트 마일스톤</a:t>
            </a:r>
            <a:endParaRPr kumimoji="1" lang="en-US" altLang="ko-KR"/>
          </a:p>
          <a:p>
            <a:r>
              <a:rPr kumimoji="1" lang="ko-KR" altLang="en-US"/>
              <a:t>테스트 데이터 셋 예시</a:t>
            </a:r>
            <a:endParaRPr kumimoji="1" lang="en-US" altLang="ko-KR"/>
          </a:p>
          <a:p>
            <a:r>
              <a:rPr kumimoji="1" lang="ko-KR" altLang="en-US"/>
              <a:t>응급도 격상 조건 데이터 예시</a:t>
            </a:r>
            <a:endParaRPr kumimoji="1" lang="en-US" altLang="ko-KR"/>
          </a:p>
          <a:p>
            <a:r>
              <a:rPr kumimoji="1" lang="ko-KR" altLang="en-US"/>
              <a:t>응급처치 데이터 예시</a:t>
            </a:r>
            <a:endParaRPr kumimoji="1"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C83DC1-0C1C-B5A0-F936-825B2F0A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4</a:t>
            </a:fld>
            <a:endParaRPr kumimoji="1"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8C0411-CD68-2CAF-2F01-8E4B1154618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1. </a:t>
            </a:r>
            <a:r>
              <a:rPr kumimoji="1" lang="ko-KR" altLang="en-US"/>
              <a:t>서론</a:t>
            </a:r>
            <a:endParaRPr kumimoji="1" lang="en-US" altLang="ko-KR"/>
          </a:p>
        </p:txBody>
      </p:sp>
    </p:spTree>
    <p:extLst>
      <p:ext uri="{BB962C8B-B14F-4D97-AF65-F5344CB8AC3E}">
        <p14:creationId xmlns:p14="http://schemas.microsoft.com/office/powerpoint/2010/main" val="373522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568C257-0C9F-14DE-CF06-833CA60FC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/>
              <a:t>테스트 데이터 셋</a:t>
            </a:r>
            <a:endParaRPr kumimoji="1" lang="en-US" altLang="ko-KR"/>
          </a:p>
          <a:p>
            <a:r>
              <a:rPr kumimoji="1" lang="ko-KR" altLang="en-US"/>
              <a:t>코드의 진행 방식</a:t>
            </a:r>
            <a:endParaRPr kumimoji="1" lang="en-US" altLang="ko-KR"/>
          </a:p>
          <a:p>
            <a:r>
              <a:rPr kumimoji="1" lang="ko-KR" altLang="en-US"/>
              <a:t>마일스톤</a:t>
            </a:r>
            <a:endParaRPr kumimoji="1" lang="en-US" altLang="ko-KR"/>
          </a:p>
          <a:p>
            <a:r>
              <a:rPr kumimoji="1" lang="ko-KR" altLang="en-US"/>
              <a:t>응급도 격상 조건 데이터</a:t>
            </a:r>
            <a:endParaRPr kumimoji="1" lang="en-US" altLang="ko-KR"/>
          </a:p>
          <a:p>
            <a:r>
              <a:rPr kumimoji="1" lang="ko-KR" altLang="en-US"/>
              <a:t>응급처치 데이터</a:t>
            </a:r>
            <a:endParaRPr lang="en-US" altLang="ko-KR"/>
          </a:p>
          <a:p>
            <a:endParaRPr kumimoji="1" lang="en-US" altLang="ko-KR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850709-F63A-F626-CF32-1434C1980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Chapter </a:t>
            </a:r>
            <a:r>
              <a:rPr kumimoji="1" lang="en-US" altLang="ko-KR"/>
              <a:t>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8D0AD-B575-DC53-2166-F0EC133E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5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7628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0974D-8EEE-7B34-DE16-CED8A1CC3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5A950-C5A5-6492-3198-8D13EFB3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테스트 데이터 셋 예시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67A91BB-B7BC-868C-241D-DE191554B3C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148CC9D-32BA-BC6B-87CA-6D31F1AD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6</a:t>
            </a:fld>
            <a:endParaRPr kumimoji="1" lang="ko-KR" altLang="en-US" dirty="0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EF68B5AA-D39F-A830-144A-779D25898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46" y="1360617"/>
            <a:ext cx="8745416" cy="221967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D5A177F2-EB1A-91EA-F965-C07BE47CDE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"/>
          <a:stretch>
            <a:fillRect/>
          </a:stretch>
        </p:blipFill>
        <p:spPr>
          <a:xfrm>
            <a:off x="1318846" y="3793952"/>
            <a:ext cx="7227486" cy="254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15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EBB12-1F21-3AA6-9A3C-B1B6A212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01438-F88B-3A6D-BF90-E9B0C207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테스트 데이터 셋 예시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95F368D-4A04-1417-E56D-3D5050B9B91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EEFAF117-FA65-3C98-1D20-C92C350AD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7</a:t>
            </a:fld>
            <a:endParaRPr kumimoji="1" lang="ko-KR" altLang="en-US" dirty="0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09D92594-E3F5-0212-5212-D28C6F4B7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6"/>
          <a:stretch>
            <a:fillRect/>
          </a:stretch>
        </p:blipFill>
        <p:spPr>
          <a:xfrm>
            <a:off x="1304152" y="1360617"/>
            <a:ext cx="9583695" cy="437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11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4E94-B8CD-4589-773C-4D877C9D1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24844-F53E-7211-27F7-3ED26A7A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코드 진행 방식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F183617-2551-79A6-16F8-762C2274BD0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AF4FEA9-BD8B-79A0-B467-D26B564C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8</a:t>
            </a:fld>
            <a:endParaRPr kumimoji="1"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56EB7B-F4CB-35B6-4EB7-0006C9FC347E}"/>
              </a:ext>
            </a:extLst>
          </p:cNvPr>
          <p:cNvSpPr/>
          <p:nvPr/>
        </p:nvSpPr>
        <p:spPr>
          <a:xfrm>
            <a:off x="457196" y="1146952"/>
            <a:ext cx="11277600" cy="3251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1. 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기능 실행 시</a:t>
            </a:r>
            <a:r>
              <a:rPr lang="en-US" altLang="ko-KR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초기 증상 분석 및 초기 병명 추론</a:t>
            </a:r>
            <a:endParaRPr lang="en-US" altLang="ko-KR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기능 실행 시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에이전트가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“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환자의 상태를 말씀해주세요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어떤 증상이 있나요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?”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질문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대답 시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에이전트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 대화 히스토리를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chat_history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저장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chat_history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분석해 환자의 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증상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파악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GPT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해당 증상들과 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질병</a:t>
            </a:r>
            <a:r>
              <a:rPr lang="en-US" altLang="ko-KR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증상 매핑 정보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이용해 상태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확정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진행중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누적 증상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후보 파악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GPT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응답을 파싱하여 상태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확정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진행중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누적 증상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후보 추출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병명이 확정되지 않은 경우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진행중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상태로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follow-up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질문 단계로 이동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144548-D521-5D2B-F65E-BE793F8B6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0" r="38413" b="82752"/>
          <a:stretch>
            <a:fillRect/>
          </a:stretch>
        </p:blipFill>
        <p:spPr>
          <a:xfrm>
            <a:off x="2894445" y="4546600"/>
            <a:ext cx="6672393" cy="18772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7618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3F5B-2003-BD1A-723E-A43C4D0F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7A368-E8FB-366F-38B9-492879DF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초기 증상 분석 및 초기 병명 추론 방법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4C6B59C-FE1B-FDEB-033C-F76816DE7C4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1E31B6C-482D-2F10-6B69-5D4197B7C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9</a:t>
            </a:fld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5570449-32BE-6931-8383-FF9096D25F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80" r="38413" b="82752"/>
          <a:stretch>
            <a:fillRect/>
          </a:stretch>
        </p:blipFill>
        <p:spPr>
          <a:xfrm>
            <a:off x="5867401" y="2730322"/>
            <a:ext cx="5968996" cy="16793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752CAC7-2A15-1F02-020E-7D90E0FA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360617"/>
            <a:ext cx="56388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0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A8CB1-233D-1F7D-79EC-A2A2EF58E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912CF-CAD9-58E8-1EC9-D3EEC64BE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코드 진행 방식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55B2FC5-9146-9C80-A618-280FAB5371C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3A25740-EE54-97A3-B4E6-E4ED21D2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10</a:t>
            </a:fld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40C0EA-38BC-3DD0-407E-D4A0A69E5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87" r="5457" b="79238"/>
          <a:stretch>
            <a:fillRect/>
          </a:stretch>
        </p:blipFill>
        <p:spPr>
          <a:xfrm>
            <a:off x="1237461" y="5204824"/>
            <a:ext cx="9717076" cy="14015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3EED689-5ECB-1BBB-8456-01206C19FE59}"/>
              </a:ext>
            </a:extLst>
          </p:cNvPr>
          <p:cNvSpPr/>
          <p:nvPr/>
        </p:nvSpPr>
        <p:spPr>
          <a:xfrm>
            <a:off x="343685" y="1025037"/>
            <a:ext cx="11504629" cy="45021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2. 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후속 질문</a:t>
            </a:r>
            <a:r>
              <a:rPr lang="en-US" altLang="ko-KR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(follow-up) 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생성</a:t>
            </a:r>
            <a:endParaRPr lang="en-US" altLang="ko-KR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‘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진행중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상태일 때 후속 질문 생성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후보들을 응급도 순으로 정렬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긴급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&gt;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응급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&gt;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비응급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후보들의 증상들을 질병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증상 매핑 정보에서 가져옴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후보들의 증상들 중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누적 증상 </a:t>
            </a:r>
            <a:r>
              <a:rPr lang="en-US" altLang="ko-KR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 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스킵증상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포함된 증상들은 제거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응급도 높은 질병의 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아직 확인되지 않은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증상 하나의 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존재 여부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묻는 질문 생성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예시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"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의식을 잃었나요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?", "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가슴 통증이 있나요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?”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GPT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아래 포멧을 지킴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다음 질문 대상 증상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팔에 통증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추가 질문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팔에 통증이 있나요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추가적인 증상이 있다면 편하게 말씀해주세요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288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C73F-5E78-C82E-BBE0-AF3B3238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240F4-CE32-D116-98E9-089019C9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후속 질문 증상 선정 방법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94ABCCE-5E73-D3B1-9A0A-03D9957214A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8C41D62-F545-E1A6-BBA4-37A63521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11</a:t>
            </a:fld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CD2A8F3-7BB6-6A05-CE6E-76F4130E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850"/>
          <a:stretch>
            <a:fillRect/>
          </a:stretch>
        </p:blipFill>
        <p:spPr>
          <a:xfrm>
            <a:off x="718398" y="3429000"/>
            <a:ext cx="10755203" cy="28575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A8FA10-46F6-2210-EAD7-CCAD5E5331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826"/>
          <a:stretch>
            <a:fillRect/>
          </a:stretch>
        </p:blipFill>
        <p:spPr>
          <a:xfrm>
            <a:off x="718398" y="1563319"/>
            <a:ext cx="6226307" cy="2146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E042C0F-B228-5E40-B0F8-123051432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98" y="1836615"/>
            <a:ext cx="4965086" cy="153376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2A8510-D5C7-18A6-7A25-73E5290D625C}"/>
              </a:ext>
            </a:extLst>
          </p:cNvPr>
          <p:cNvSpPr/>
          <p:nvPr/>
        </p:nvSpPr>
        <p:spPr>
          <a:xfrm>
            <a:off x="2678904" y="1176434"/>
            <a:ext cx="2108996" cy="1261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확정 증상</a:t>
            </a:r>
            <a:r>
              <a:rPr lang="en-US" altLang="ko-KR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</a:t>
            </a: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누적증상</a:t>
            </a:r>
            <a:endParaRPr lang="en-US" altLang="ko-KR" sz="160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78339D-7BC9-56BD-AACB-EFCA9B2162C7}"/>
              </a:ext>
            </a:extLst>
          </p:cNvPr>
          <p:cNvSpPr/>
          <p:nvPr/>
        </p:nvSpPr>
        <p:spPr>
          <a:xfrm>
            <a:off x="5470478" y="1176434"/>
            <a:ext cx="2108996" cy="1261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스킵 증상</a:t>
            </a:r>
            <a:endParaRPr lang="en-US" altLang="ko-KR" sz="160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8AAB23-2479-0E52-85B1-109C7159DCFD}"/>
              </a:ext>
            </a:extLst>
          </p:cNvPr>
          <p:cNvSpPr/>
          <p:nvPr/>
        </p:nvSpPr>
        <p:spPr>
          <a:xfrm>
            <a:off x="611628" y="1176434"/>
            <a:ext cx="2108996" cy="1261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이미 물어본 증상</a:t>
            </a:r>
            <a:endParaRPr lang="en-US" altLang="ko-KR" sz="160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B50552-640A-6B1B-3B18-B4F84DD7892F}"/>
              </a:ext>
            </a:extLst>
          </p:cNvPr>
          <p:cNvSpPr/>
          <p:nvPr/>
        </p:nvSpPr>
        <p:spPr>
          <a:xfrm>
            <a:off x="5735781" y="2164885"/>
            <a:ext cx="5844590" cy="1261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후보들의 증상이 </a:t>
            </a:r>
            <a:r>
              <a:rPr lang="en-US" altLang="ko-KR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already asked</a:t>
            </a: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있으면 빼고</a:t>
            </a:r>
            <a:endParaRPr lang="en-US" altLang="ko-KR" sz="160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남은 것들을 </a:t>
            </a:r>
            <a:r>
              <a:rPr lang="en-US" altLang="ko-KR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disease_symptom_text</a:t>
            </a: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넣는다</a:t>
            </a:r>
            <a:endParaRPr lang="en-US" altLang="ko-KR" sz="160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560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3868-725D-0506-DFF4-2F932E3E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5D858C-331E-B9C2-2834-AAC060BEC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후속 질문 생성 규칙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F5FCC48-3F1C-2A36-B158-4A78E61207E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778B25FE-07BC-D5FC-5062-0AE5A239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12</a:t>
            </a:fld>
            <a:endParaRPr kumimoji="1"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7375D93-461A-DBE9-4823-800D1D1CB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1500370"/>
            <a:ext cx="9601200" cy="33623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F25665B-AA41-8E54-4913-744D9E200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87" r="5457" b="79238"/>
          <a:stretch>
            <a:fillRect/>
          </a:stretch>
        </p:blipFill>
        <p:spPr>
          <a:xfrm>
            <a:off x="1148562" y="5033759"/>
            <a:ext cx="9717076" cy="14015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0138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F4C4-F222-4EF2-DAF8-289DF807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217093-4A40-A223-8F53-8F4EF89B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코드 진행 방식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F309C82-3343-CDD8-E030-AE1A4919062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585B416-F04D-E9BB-76EE-0674ED7C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13</a:t>
            </a:fld>
            <a:endParaRPr kumimoji="1"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540C21-F68D-C3D2-CEED-2977B391F9F1}"/>
              </a:ext>
            </a:extLst>
          </p:cNvPr>
          <p:cNvSpPr/>
          <p:nvPr/>
        </p:nvSpPr>
        <p:spPr>
          <a:xfrm>
            <a:off x="457199" y="1146952"/>
            <a:ext cx="10636250" cy="45021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3. 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후속 질문</a:t>
            </a:r>
            <a:r>
              <a:rPr lang="en-US" altLang="ko-KR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(follow-up) 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처리</a:t>
            </a:r>
            <a:endParaRPr lang="en-US" altLang="ko-KR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후속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질문이 중복되었는지 확인 → 중복이면 최대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회까지 후속 질문 재생성 시도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재생성 시도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 초과 시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질문 생성 실패 안내 →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119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연결 권유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후속 질문 수가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10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15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회인 경우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- 10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 초과 →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119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연결 권유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- 15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 초과 → 병명 확정 실패 및 응급도 기반 안내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질문 중복 여부 확인 후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중복이 아닐 시 사용자에게 질문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자연어 사용자 응답을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예</a:t>
            </a:r>
            <a:r>
              <a:rPr lang="en-US" altLang="ko-KR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아니오</a:t>
            </a:r>
            <a:r>
              <a:rPr lang="en-US" altLang="ko-KR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모르겠음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분류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“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예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” →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다음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질문 대상 증상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누적 증상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추가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“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아니오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모르겠음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” →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다음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질문 대상 증상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‘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스킵 증상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추가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GPT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누적 증상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병명 후보들의 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질병</a:t>
            </a:r>
            <a:r>
              <a:rPr lang="en-US" altLang="ko-KR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증상 매핑 정보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이용해 병명 추론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954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48E68-4BB2-57E5-B910-3C2DDA1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4A4CC-3866-E6C4-A9B3-0F60B5B0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후속질문 중복 확인 방법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3124422-0FAB-ADCF-6492-843A4220D36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D81FECC-5439-AF7B-3FE9-852683AF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14</a:t>
            </a:fld>
            <a:endParaRPr kumimoji="1"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9739E83-3C57-7AB3-A836-75F58E047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2" y="1198293"/>
            <a:ext cx="9601200" cy="336232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74706C5-1AA1-2B97-6F63-E2A7D80BB33C}"/>
              </a:ext>
            </a:extLst>
          </p:cNvPr>
          <p:cNvSpPr/>
          <p:nvPr/>
        </p:nvSpPr>
        <p:spPr>
          <a:xfrm>
            <a:off x="471322" y="4620729"/>
            <a:ext cx="4820950" cy="1261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중복 확인</a:t>
            </a:r>
            <a:endParaRPr lang="en-US" altLang="ko-KR" sz="160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1CBC4C3-F051-BF0F-0FCF-1BC946A1ACEE}"/>
              </a:ext>
            </a:extLst>
          </p:cNvPr>
          <p:cNvCxnSpPr>
            <a:cxnSpLocks/>
          </p:cNvCxnSpPr>
          <p:nvPr/>
        </p:nvCxnSpPr>
        <p:spPr>
          <a:xfrm>
            <a:off x="638175" y="4117232"/>
            <a:ext cx="421141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89736E67-84A0-135D-B2FF-C0CCB0D1E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72" y="5000625"/>
            <a:ext cx="6683143" cy="134302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6963C6-383A-C1A5-8549-E820A3193AE5}"/>
              </a:ext>
            </a:extLst>
          </p:cNvPr>
          <p:cNvSpPr/>
          <p:nvPr/>
        </p:nvSpPr>
        <p:spPr>
          <a:xfrm>
            <a:off x="4849586" y="3744818"/>
            <a:ext cx="4820950" cy="1261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6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symptom_keyword = </a:t>
            </a:r>
            <a:r>
              <a:rPr lang="ko-KR" altLang="en-US" sz="160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한쪽 얼굴이 처짐</a:t>
            </a:r>
            <a:endParaRPr lang="en-US" altLang="ko-KR" sz="160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4008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BDF86-0ADC-DB9C-5434-E30F2E915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B8B48-E6F8-F219-A49F-B7F3073BF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스킵증상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2FFCA66-CC60-B560-A9FE-CCF09F98CC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0199EA5-BF05-3102-60AB-57572513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15</a:t>
            </a:fld>
            <a:endParaRPr kumimoji="1"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D78AC08-A8A1-4253-4AE7-3A6E185029A3}"/>
              </a:ext>
            </a:extLst>
          </p:cNvPr>
          <p:cNvGrpSpPr/>
          <p:nvPr/>
        </p:nvGrpSpPr>
        <p:grpSpPr>
          <a:xfrm>
            <a:off x="1929604" y="1942809"/>
            <a:ext cx="8332791" cy="2993685"/>
            <a:chOff x="1929604" y="2219325"/>
            <a:chExt cx="8332791" cy="299368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41A552A-7222-E11F-722A-E4DB4488F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3" t="18304" r="5325" b="47754"/>
            <a:stretch>
              <a:fillRect/>
            </a:stretch>
          </p:blipFill>
          <p:spPr>
            <a:xfrm>
              <a:off x="1929604" y="2219325"/>
              <a:ext cx="8332791" cy="29936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439EA838-03B3-DAA3-68A7-2AF51BDA9683}"/>
                </a:ext>
              </a:extLst>
            </p:cNvPr>
            <p:cNvCxnSpPr>
              <a:cxnSpLocks/>
            </p:cNvCxnSpPr>
            <p:nvPr/>
          </p:nvCxnSpPr>
          <p:spPr>
            <a:xfrm>
              <a:off x="2581275" y="4305300"/>
              <a:ext cx="39052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ADC1772-8331-0673-E0EA-9847F9E05ED9}"/>
                </a:ext>
              </a:extLst>
            </p:cNvPr>
            <p:cNvCxnSpPr>
              <a:cxnSpLocks/>
            </p:cNvCxnSpPr>
            <p:nvPr/>
          </p:nvCxnSpPr>
          <p:spPr>
            <a:xfrm>
              <a:off x="2581275" y="2695575"/>
              <a:ext cx="97155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0EC15ED-3BFA-1ABB-8E41-F1BF47415D93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75" y="3371850"/>
              <a:ext cx="97155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28AFF42-248F-2F42-B972-1436D878E4B5}"/>
                </a:ext>
              </a:extLst>
            </p:cNvPr>
            <p:cNvCxnSpPr>
              <a:cxnSpLocks/>
            </p:cNvCxnSpPr>
            <p:nvPr/>
          </p:nvCxnSpPr>
          <p:spPr>
            <a:xfrm>
              <a:off x="2924175" y="4981575"/>
              <a:ext cx="20955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78946E-AAAE-340B-EE9C-C5D5F78D2DF5}"/>
              </a:ext>
            </a:extLst>
          </p:cNvPr>
          <p:cNvSpPr/>
          <p:nvPr/>
        </p:nvSpPr>
        <p:spPr>
          <a:xfrm>
            <a:off x="3533660" y="2046149"/>
            <a:ext cx="3583784" cy="1261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스킵 증상</a:t>
            </a:r>
            <a:r>
              <a:rPr lang="en-US" altLang="ko-KR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뼈가 부러짐</a:t>
            </a:r>
            <a:endParaRPr lang="en-US" altLang="ko-KR" sz="160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999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57E4-EAFB-545B-40D1-B26FBAD1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77927E-EEAD-1E2A-BCC5-25349753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사용자 응답 분류 방식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531CFDA-6F23-71A7-BD90-A96569E7D24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7926F619-029B-74FC-3D8F-1BBA58C7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16</a:t>
            </a:fld>
            <a:endParaRPr kumimoji="1"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4C89DDB-CBFE-1E1E-43B9-71730B43C914}"/>
              </a:ext>
            </a:extLst>
          </p:cNvPr>
          <p:cNvGrpSpPr/>
          <p:nvPr/>
        </p:nvGrpSpPr>
        <p:grpSpPr>
          <a:xfrm>
            <a:off x="2916565" y="1484493"/>
            <a:ext cx="1736161" cy="243075"/>
            <a:chOff x="447562" y="2390951"/>
            <a:chExt cx="1736161" cy="24307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497E7236-F0BB-F5A2-8319-410510BB3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9088" r="80317" b="58156"/>
            <a:stretch>
              <a:fillRect/>
            </a:stretch>
          </p:blipFill>
          <p:spPr>
            <a:xfrm>
              <a:off x="447562" y="2390951"/>
              <a:ext cx="1736161" cy="2430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7B7CFCC0-1B8E-BDC8-68EF-5D2370320E13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41" y="2634026"/>
              <a:ext cx="39052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E270306-BCAA-FBB1-17DC-34CC211D146A}"/>
              </a:ext>
            </a:extLst>
          </p:cNvPr>
          <p:cNvGrpSpPr/>
          <p:nvPr/>
        </p:nvGrpSpPr>
        <p:grpSpPr>
          <a:xfrm>
            <a:off x="961912" y="1484493"/>
            <a:ext cx="1736161" cy="243095"/>
            <a:chOff x="402882" y="1471405"/>
            <a:chExt cx="1736161" cy="24309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C77CC78-E8E0-5C34-B846-602626143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3" t="20947" r="80114" b="76297"/>
            <a:stretch>
              <a:fillRect/>
            </a:stretch>
          </p:blipFill>
          <p:spPr>
            <a:xfrm>
              <a:off x="402882" y="1471405"/>
              <a:ext cx="1736161" cy="2430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83E5B1FF-A801-6006-D4E2-062A55FDF282}"/>
                </a:ext>
              </a:extLst>
            </p:cNvPr>
            <p:cNvCxnSpPr>
              <a:cxnSpLocks/>
            </p:cNvCxnSpPr>
            <p:nvPr/>
          </p:nvCxnSpPr>
          <p:spPr>
            <a:xfrm>
              <a:off x="1054553" y="1714500"/>
              <a:ext cx="97155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04B70691-6EC5-3890-8ED8-FFA7AEABF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91" y="2004912"/>
            <a:ext cx="4183947" cy="29936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1678DF3-AF15-0E1B-9DD2-2F8F97D79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853" y="1996746"/>
            <a:ext cx="5237389" cy="440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67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9035-CF27-B677-A08B-2D455E59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DF6AB-6353-3E2F-5FCD-E4B4F250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증상 기반 병명 추론</a:t>
            </a:r>
            <a:r>
              <a:rPr kumimoji="1" lang="en-US" altLang="ko-KR"/>
              <a:t>(chat history </a:t>
            </a:r>
            <a:r>
              <a:rPr kumimoji="1" lang="ko-KR" altLang="en-US"/>
              <a:t>사용</a:t>
            </a:r>
            <a:r>
              <a:rPr kumimoji="1" lang="en-US" altLang="ko-KR"/>
              <a:t>x)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A2EE1AA-DB1C-9888-DD2C-773849CBE26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92A5AD2B-4A95-DC63-C96E-A444F375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17</a:t>
            </a:fld>
            <a:endParaRPr kumimoji="1"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8F598F7-7A0B-94C3-5367-D26F27B8C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285" y="1499853"/>
            <a:ext cx="5553075" cy="501967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B0B47F55-6924-BCB1-6FB5-6801FC96416D}"/>
              </a:ext>
            </a:extLst>
          </p:cNvPr>
          <p:cNvSpPr/>
          <p:nvPr/>
        </p:nvSpPr>
        <p:spPr>
          <a:xfrm>
            <a:off x="2910629" y="1146952"/>
            <a:ext cx="4820950" cy="1261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누적 증상 기반 병명 추론</a:t>
            </a:r>
            <a:r>
              <a:rPr lang="en-US" altLang="ko-KR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챗 히스토리 사용</a:t>
            </a:r>
            <a:r>
              <a:rPr lang="en-US" altLang="ko-KR" sz="16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x)</a:t>
            </a:r>
          </a:p>
        </p:txBody>
      </p:sp>
    </p:spTree>
    <p:extLst>
      <p:ext uri="{BB962C8B-B14F-4D97-AF65-F5344CB8AC3E}">
        <p14:creationId xmlns:p14="http://schemas.microsoft.com/office/powerpoint/2010/main" val="1697335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9E86B-CB0F-2354-EEE7-0F18876A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83C41-78D5-6ECE-77FE-AA5F447CA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코드 진행 방식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F001B1-B673-CE32-B175-980A887CEC4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FA0C5085-1A2E-CBE0-E435-4A472F1D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18</a:t>
            </a:fld>
            <a:endParaRPr kumimoji="1"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1D7FAD-C067-1949-F1BB-98E93FAC7BBA}"/>
              </a:ext>
            </a:extLst>
          </p:cNvPr>
          <p:cNvSpPr/>
          <p:nvPr/>
        </p:nvSpPr>
        <p:spPr>
          <a:xfrm>
            <a:off x="391883" y="1104053"/>
            <a:ext cx="11277599" cy="5502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4. 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병명 확정 조건 및 처리</a:t>
            </a:r>
            <a:endParaRPr lang="en-US" altLang="ko-KR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확정 성공 조건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질문 횟수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15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 이하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&amp;&amp;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후보가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 남은 경우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해당 병명 후보를 확정 지음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확정 성공 시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확정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상태로 업데이트 후 응급도 기반 조치 실행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371600" lvl="2" indent="-457200">
              <a:lnSpc>
                <a:spcPct val="150000"/>
              </a:lnSpc>
              <a:buFontTx/>
              <a:buChar char="-"/>
            </a:pPr>
            <a:endParaRPr lang="ko-KR" altLang="en-US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확정 실패 조건</a:t>
            </a: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질문 횟수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15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 초과 또는 질문 가능한 증상이 더 이상 없는 경우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3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지금까지 확인된 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누적 증상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질병</a:t>
            </a:r>
            <a:r>
              <a:rPr lang="en-US" altLang="ko-KR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증상 매핑 데이터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기반으로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GPT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병명 추론 요청 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3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병명이 하나로 확정되지 않을 경우 ‘병명 확정 실패’로 처리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추가 질문 생성 실패한 경우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(3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 연속 중복 질문 생성 또는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GPT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오류 등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‘병명 확정 실패’로 처리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확정 실패 시 병명 후보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후보의 최고 응급도 출력 후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119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연결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or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처음 부터 재시작 선택지  제공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endParaRPr lang="en-US" altLang="ko-KR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516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E230-658B-9675-841A-489E79DD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EFC0B-AE77-D2A6-5BB9-C098ADDF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상태</a:t>
            </a:r>
            <a:r>
              <a:rPr kumimoji="1" lang="en-US" altLang="ko-KR"/>
              <a:t>: </a:t>
            </a:r>
            <a:r>
              <a:rPr kumimoji="1" lang="ko-KR" altLang="en-US"/>
              <a:t>확정 분기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96BEEC5-5702-111D-7E2E-27138B5AA36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F57676B-1A68-03D7-AE75-1E066B96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19</a:t>
            </a:fld>
            <a:endParaRPr kumimoji="1"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65E9E67-FBAB-90D9-51FD-BD0BD91A3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4" y="1235591"/>
            <a:ext cx="7611809" cy="180793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C965648-95B5-A225-2166-6F7B0470E774}"/>
              </a:ext>
            </a:extLst>
          </p:cNvPr>
          <p:cNvCxnSpPr>
            <a:cxnSpLocks/>
          </p:cNvCxnSpPr>
          <p:nvPr/>
        </p:nvCxnSpPr>
        <p:spPr>
          <a:xfrm>
            <a:off x="1487260" y="2557852"/>
            <a:ext cx="38236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FCC6739-2242-A2E6-C2F9-27A4C58A5D39}"/>
              </a:ext>
            </a:extLst>
          </p:cNvPr>
          <p:cNvCxnSpPr>
            <a:cxnSpLocks/>
          </p:cNvCxnSpPr>
          <p:nvPr/>
        </p:nvCxnSpPr>
        <p:spPr>
          <a:xfrm>
            <a:off x="1419224" y="2122424"/>
            <a:ext cx="8912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3DF6883E-46E5-6CF3-DD9E-A3B3A69B9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74" y="3184009"/>
            <a:ext cx="61626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44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0EC5-21AC-57E5-3C8B-4D9333C6E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4316A-1FA9-A06C-AF32-C05E73E4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코드 진행 방식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3BECEE2-A11C-25C8-183E-F0751681BA8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2CC20B4-EC34-9BA3-A059-D003BDFC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20</a:t>
            </a:fld>
            <a:endParaRPr kumimoji="1"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12A5EED-B19E-A231-5529-858854D122AA}"/>
              </a:ext>
            </a:extLst>
          </p:cNvPr>
          <p:cNvSpPr/>
          <p:nvPr/>
        </p:nvSpPr>
        <p:spPr>
          <a:xfrm>
            <a:off x="457199" y="1146952"/>
            <a:ext cx="11544301" cy="5459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5. 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응급도 기반 후속 조치</a:t>
            </a:r>
            <a:endParaRPr lang="ko-KR" altLang="en-US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‘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확정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상태일 때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응급도에 따라 조치를 취한다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긴급 상황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</a:p>
          <a:p>
            <a:pPr lvl="3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1. 119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신고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3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상세 위치 파악 후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119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전달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3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응급처치 안내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응급 상황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119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신고 사용자 의사 확인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3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수락 시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상세 위치 파악 후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119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신고 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응급처치 안내</a:t>
            </a:r>
            <a:endParaRPr lang="en-US" altLang="ko-KR">
              <a:solidFill>
                <a:sysClr val="windowText" lastClr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3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거절 시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바로 응급처치 안내</a:t>
            </a: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비응급 상황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바로 응급처치 안내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- 119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신고는 백엔드에서 진행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에이전트에서 백엔드로 환자의 증상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</a:t>
            </a:r>
            <a:r>
              <a:rPr lang="en-US" altLang="ko-KR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상세 위치 데이터 전달</a:t>
            </a:r>
          </a:p>
          <a:p>
            <a:pPr marL="914400" lvl="1" indent="-457200">
              <a:lnSpc>
                <a:spcPct val="150000"/>
              </a:lnSpc>
              <a:buFontTx/>
              <a:buChar char="-"/>
            </a:pPr>
            <a:endParaRPr lang="en-US" altLang="ko-KR">
              <a:solidFill>
                <a:sysClr val="windowText" lastClr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4613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2A104-88A3-5D19-A394-0C13C2BD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FD83A-880A-795D-5D6E-4B8B64B1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응급도 기반 후속 조치</a:t>
            </a:r>
            <a:r>
              <a:rPr kumimoji="1" lang="en-US" altLang="ko-KR"/>
              <a:t>(</a:t>
            </a:r>
            <a:r>
              <a:rPr kumimoji="1" lang="ko-KR" altLang="en-US"/>
              <a:t>예시</a:t>
            </a:r>
            <a:r>
              <a:rPr kumimoji="1" lang="en-US" altLang="ko-KR"/>
              <a:t>, </a:t>
            </a:r>
            <a:r>
              <a:rPr kumimoji="1" lang="ko-KR" altLang="en-US"/>
              <a:t>구현</a:t>
            </a:r>
            <a:r>
              <a:rPr kumimoji="1" lang="en-US" altLang="ko-KR"/>
              <a:t>x)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3585929-3238-6C86-F5C3-2933658675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5332922B-917C-0E90-FC3A-3A710AF5C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21</a:t>
            </a:fld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8244FC-8F18-EE52-7060-7916E8F9F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533" y="2694353"/>
            <a:ext cx="9678934" cy="182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47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AF1E-A3FF-F2D3-FC54-95584E87A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D01C4-41DC-BE73-DD7D-6E783FAE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코드 진행 방식</a:t>
            </a:r>
            <a:endParaRPr kumimoji="1" lang="en-US" altLang="ko-KR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71911D8-FBE1-4F90-C37D-62501010B52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A79521FF-A063-6874-7373-996B9631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22</a:t>
            </a:fld>
            <a:endParaRPr kumimoji="1"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AAC620E-38EF-C47E-FB0A-2DE31AD57009}"/>
              </a:ext>
            </a:extLst>
          </p:cNvPr>
          <p:cNvSpPr/>
          <p:nvPr/>
        </p:nvSpPr>
        <p:spPr>
          <a:xfrm>
            <a:off x="457199" y="1115825"/>
            <a:ext cx="11582396" cy="56621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6. </a:t>
            </a:r>
            <a:r>
              <a:rPr lang="ko-KR" altLang="en-US">
                <a:solidFill>
                  <a:sysClr val="windowText" lastClr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응급처치 안내</a:t>
            </a:r>
            <a:endParaRPr lang="ko-KR" altLang="en-US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병명 확정 후 해당 병명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.json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파일에서 응급처치 데이터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로딩</a:t>
            </a:r>
            <a:endParaRPr lang="en-US" altLang="ko-KR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내부 구조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intro, precaution, checklist, instruction, closing</a:t>
            </a:r>
          </a:p>
          <a:p>
            <a:pPr lvl="1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응급처치 단계는 다음 순서로 안내 됨</a:t>
            </a:r>
            <a:endParaRPr lang="en-US" altLang="ko-KR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instruction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checklist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존재하는 경우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- checklist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사용자에게 질문 후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endParaRPr lang="en-US" altLang="ko-KR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-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응답이 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“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예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”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 경우 </a:t>
            </a:r>
            <a:r>
              <a:rPr lang="af-ZA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yes_instructions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해당 </a:t>
            </a:r>
            <a:r>
              <a:rPr lang="af-ZA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instruction</a:t>
            </a:r>
            <a:r>
              <a:rPr lang="af-ZA" altLang="ko-KR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저장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</a:t>
            </a: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-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응답이 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“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아니요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”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또는 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“</a:t>
            </a:r>
            <a:r>
              <a:rPr lang="ko-KR" altLang="en-US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모르겠어요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”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 경우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해당 </a:t>
            </a:r>
            <a:r>
              <a:rPr lang="en-US" altLang="ko-KR">
                <a:solidFill>
                  <a:srgbClr val="161616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instruction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 무시</a:t>
            </a:r>
            <a:endParaRPr lang="en-US" altLang="ko-KR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checklist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끝나면 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intro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출력</a:t>
            </a:r>
            <a:endParaRPr lang="en-US" altLang="ko-KR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주의사항 안내</a:t>
            </a:r>
            <a:endParaRPr lang="en-US" altLang="ko-KR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4. checklist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없는 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instruction 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및 </a:t>
            </a:r>
            <a:r>
              <a:rPr lang="af-ZA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yes_instructions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있는 </a:t>
            </a: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instruction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출력</a:t>
            </a:r>
            <a:endParaRPr lang="en-US" altLang="ko-KR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5. closing</a:t>
            </a:r>
            <a:r>
              <a:rPr lang="ko-KR" altLang="en-US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멘트 출력</a:t>
            </a:r>
            <a:endParaRPr lang="en-US" altLang="ko-KR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3176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516A-2425-0517-4810-E69E6B66C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477DD-3A5F-C5BD-DDCD-BAFEDDCD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응급처치 안내</a:t>
            </a:r>
            <a:r>
              <a:rPr kumimoji="1" lang="en-US" altLang="ko-KR"/>
              <a:t>(</a:t>
            </a:r>
            <a:r>
              <a:rPr kumimoji="1" lang="ko-KR" altLang="en-US"/>
              <a:t>예시</a:t>
            </a:r>
            <a:r>
              <a:rPr kumimoji="1" lang="en-US" altLang="ko-KR"/>
              <a:t>, </a:t>
            </a:r>
            <a:r>
              <a:rPr kumimoji="1" lang="ko-KR" altLang="en-US"/>
              <a:t>구현</a:t>
            </a:r>
            <a:r>
              <a:rPr kumimoji="1" lang="en-US" altLang="ko-KR"/>
              <a:t>x)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2D1EECC-BDB1-8CAC-9B0F-0414014F989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2D28A13B-7AD3-560B-A2C1-4AC3E300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23</a:t>
            </a:fld>
            <a:endParaRPr kumimoji="1"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FC7A9F9-926C-A23E-5306-87BC44D6B026}"/>
              </a:ext>
            </a:extLst>
          </p:cNvPr>
          <p:cNvGrpSpPr/>
          <p:nvPr/>
        </p:nvGrpSpPr>
        <p:grpSpPr>
          <a:xfrm>
            <a:off x="2633662" y="1976436"/>
            <a:ext cx="6924675" cy="3128283"/>
            <a:chOff x="2633662" y="1772329"/>
            <a:chExt cx="6924675" cy="312828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B33D843-281A-3E9C-153E-FD22F2876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3662" y="1957387"/>
              <a:ext cx="6924675" cy="294322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6D4A540-0A76-9973-2AA5-AE89CE702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633662" y="1772329"/>
              <a:ext cx="6315075" cy="209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1361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17378-7646-3577-FAA4-85598D4C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방학 마일스톤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C83DC1-0C1C-B5A0-F936-825B2F0A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24</a:t>
            </a:fld>
            <a:endParaRPr kumimoji="1"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8C0411-CD68-2CAF-2F01-8E4B1154618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CACC5FB-E5B4-740A-2728-1B1D8285945F}"/>
              </a:ext>
            </a:extLst>
          </p:cNvPr>
          <p:cNvCxnSpPr/>
          <p:nvPr/>
        </p:nvCxnSpPr>
        <p:spPr>
          <a:xfrm>
            <a:off x="7756655" y="5331696"/>
            <a:ext cx="78337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4217F89-70C8-52FD-074F-2F8902A1F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239014"/>
              </p:ext>
            </p:extLst>
          </p:nvPr>
        </p:nvGraphicFramePr>
        <p:xfrm>
          <a:off x="531446" y="1488352"/>
          <a:ext cx="11057082" cy="4619171"/>
        </p:xfrm>
        <a:graphic>
          <a:graphicData uri="http://schemas.openxmlformats.org/drawingml/2006/table">
            <a:tbl>
              <a:tblPr/>
              <a:tblGrid>
                <a:gridCol w="391117">
                  <a:extLst>
                    <a:ext uri="{9D8B030D-6E8A-4147-A177-3AD203B41FA5}">
                      <a16:colId xmlns:a16="http://schemas.microsoft.com/office/drawing/2014/main" val="1695484446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545607072"/>
                    </a:ext>
                  </a:extLst>
                </a:gridCol>
                <a:gridCol w="881743">
                  <a:extLst>
                    <a:ext uri="{9D8B030D-6E8A-4147-A177-3AD203B41FA5}">
                      <a16:colId xmlns:a16="http://schemas.microsoft.com/office/drawing/2014/main" val="2363618765"/>
                    </a:ext>
                  </a:extLst>
                </a:gridCol>
                <a:gridCol w="898072">
                  <a:extLst>
                    <a:ext uri="{9D8B030D-6E8A-4147-A177-3AD203B41FA5}">
                      <a16:colId xmlns:a16="http://schemas.microsoft.com/office/drawing/2014/main" val="3038382147"/>
                    </a:ext>
                  </a:extLst>
                </a:gridCol>
                <a:gridCol w="1692900">
                  <a:extLst>
                    <a:ext uri="{9D8B030D-6E8A-4147-A177-3AD203B41FA5}">
                      <a16:colId xmlns:a16="http://schemas.microsoft.com/office/drawing/2014/main" val="2655738754"/>
                    </a:ext>
                  </a:extLst>
                </a:gridCol>
                <a:gridCol w="1692900">
                  <a:extLst>
                    <a:ext uri="{9D8B030D-6E8A-4147-A177-3AD203B41FA5}">
                      <a16:colId xmlns:a16="http://schemas.microsoft.com/office/drawing/2014/main" val="3973695632"/>
                    </a:ext>
                  </a:extLst>
                </a:gridCol>
                <a:gridCol w="1692900">
                  <a:extLst>
                    <a:ext uri="{9D8B030D-6E8A-4147-A177-3AD203B41FA5}">
                      <a16:colId xmlns:a16="http://schemas.microsoft.com/office/drawing/2014/main" val="2504550282"/>
                    </a:ext>
                  </a:extLst>
                </a:gridCol>
                <a:gridCol w="1692900">
                  <a:extLst>
                    <a:ext uri="{9D8B030D-6E8A-4147-A177-3AD203B41FA5}">
                      <a16:colId xmlns:a16="http://schemas.microsoft.com/office/drawing/2014/main" val="2576959068"/>
                    </a:ext>
                  </a:extLst>
                </a:gridCol>
              </a:tblGrid>
              <a:tr h="25662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ID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작업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시작날짜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완료날짜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113536"/>
                  </a:ext>
                </a:extLst>
              </a:tr>
              <a:tr h="256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7</a:t>
                      </a:r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8</a:t>
                      </a:r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9</a:t>
                      </a:r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10</a:t>
                      </a:r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698329"/>
                  </a:ext>
                </a:extLst>
              </a:tr>
              <a:tr h="513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Agent</a:t>
                      </a:r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 모듈화</a:t>
                      </a:r>
                      <a:endParaRPr lang="en-US" altLang="ko-KR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2025-07-04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2025-07-10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534069"/>
                  </a:ext>
                </a:extLst>
              </a:tr>
              <a:tr h="513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질병</a:t>
                      </a:r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-</a:t>
                      </a:r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증상 데이터 정리</a:t>
                      </a:r>
                      <a:endParaRPr lang="en-US" altLang="ko-KR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2025-07-11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2025-07-17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600425"/>
                  </a:ext>
                </a:extLst>
              </a:tr>
              <a:tr h="513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3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테스트 데이터 셋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2025-07-18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2025-07-24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643044"/>
                  </a:ext>
                </a:extLst>
              </a:tr>
              <a:tr h="513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4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응급도 격상 조건 데이터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2025-07-25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2025-07-31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604924"/>
                  </a:ext>
                </a:extLst>
              </a:tr>
              <a:tr h="513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5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응급처치 데이터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2025-08-01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2025-08-07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44942"/>
                  </a:ext>
                </a:extLst>
              </a:tr>
              <a:tr h="513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6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응급도 격상 기능</a:t>
                      </a:r>
                      <a:r>
                        <a:rPr lang="en-US" altLang="ko-KR" sz="105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응급처치 안내 기능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2025-08-08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2025-08-29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55084"/>
                  </a:ext>
                </a:extLst>
              </a:tr>
              <a:tr h="513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7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APP, </a:t>
                      </a:r>
                      <a:r>
                        <a:rPr lang="ko-KR" altLang="en-US" sz="105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백엔드 기능 개선</a:t>
                      </a:r>
                      <a:endParaRPr lang="en-US" altLang="ko-KR" sz="105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및 </a:t>
                      </a:r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Agent</a:t>
                      </a:r>
                      <a:r>
                        <a:rPr lang="ko-KR" altLang="en-US" sz="105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2025-07-11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2025-07-31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617523"/>
                  </a:ext>
                </a:extLst>
              </a:tr>
              <a:tr h="513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8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테스트 및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2025-08-29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2025-09-05</a:t>
                      </a:r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05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2741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F761CFE-D674-DF09-8E29-F5EE63D6314E}"/>
              </a:ext>
            </a:extLst>
          </p:cNvPr>
          <p:cNvSpPr txBox="1"/>
          <p:nvPr/>
        </p:nvSpPr>
        <p:spPr>
          <a:xfrm>
            <a:off x="7725434" y="6113328"/>
            <a:ext cx="1118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>
                <a:latin typeface="Noto Sans KR" panose="020B0500000000000000" pitchFamily="34" charset="-127"/>
                <a:ea typeface="Noto Sans KR" panose="020B0500000000000000" pitchFamily="34" charset="-127"/>
              </a:rPr>
              <a:t>09-05</a:t>
            </a:r>
          </a:p>
          <a:p>
            <a:pPr algn="ctr"/>
            <a:r>
              <a: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</a:rPr>
              <a:t>중간보고서</a:t>
            </a:r>
            <a:r>
              <a:rPr lang="en-US" altLang="ko-KR" sz="800">
                <a:latin typeface="Noto Sans KR" panose="020B0500000000000000" pitchFamily="34" charset="-127"/>
                <a:ea typeface="Noto Sans KR" panose="020B0500000000000000" pitchFamily="34" charset="-127"/>
              </a:rPr>
              <a:t>II</a:t>
            </a:r>
            <a:r>
              <a: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</a:rPr>
              <a:t> 제출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B57DE-1F93-80A1-D3DE-5BDD803407E4}"/>
              </a:ext>
            </a:extLst>
          </p:cNvPr>
          <p:cNvSpPr txBox="1"/>
          <p:nvPr/>
        </p:nvSpPr>
        <p:spPr>
          <a:xfrm>
            <a:off x="4395019" y="6116839"/>
            <a:ext cx="8375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>
                <a:latin typeface="Noto Sans KR" panose="020B0500000000000000" pitchFamily="34" charset="-127"/>
                <a:ea typeface="Noto Sans KR" panose="020B0500000000000000" pitchFamily="34" charset="-127"/>
              </a:rPr>
              <a:t>07-04</a:t>
            </a:r>
          </a:p>
          <a:p>
            <a:pPr algn="ctr"/>
            <a:r>
              <a: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</a:rPr>
              <a:t>계획서</a:t>
            </a:r>
            <a:r>
              <a:rPr lang="en-US" altLang="ko-KR" sz="800">
                <a:latin typeface="Noto Sans KR" panose="020B0500000000000000" pitchFamily="34" charset="-127"/>
                <a:ea typeface="Noto Sans KR" panose="020B0500000000000000" pitchFamily="34" charset="-127"/>
              </a:rPr>
              <a:t>II</a:t>
            </a:r>
            <a:r>
              <a: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</a:rPr>
              <a:t> 제출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8AD5BB6-9BCE-66AA-BDFF-6C535C745243}"/>
              </a:ext>
            </a:extLst>
          </p:cNvPr>
          <p:cNvCxnSpPr>
            <a:cxnSpLocks/>
          </p:cNvCxnSpPr>
          <p:nvPr/>
        </p:nvCxnSpPr>
        <p:spPr>
          <a:xfrm>
            <a:off x="8284252" y="1989360"/>
            <a:ext cx="0" cy="41181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15A19C-CF00-5DB7-090C-81A4E8453AC7}"/>
              </a:ext>
            </a:extLst>
          </p:cNvPr>
          <p:cNvSpPr txBox="1"/>
          <p:nvPr/>
        </p:nvSpPr>
        <p:spPr>
          <a:xfrm>
            <a:off x="11265107" y="6113762"/>
            <a:ext cx="6349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>
                <a:latin typeface="Noto Sans KR" panose="020B0500000000000000" pitchFamily="34" charset="-127"/>
                <a:ea typeface="Noto Sans KR" panose="020B0500000000000000" pitchFamily="34" charset="-127"/>
              </a:rPr>
              <a:t>최종발표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2226B1-0088-69AE-E25E-6BC72E01187D}"/>
              </a:ext>
            </a:extLst>
          </p:cNvPr>
          <p:cNvSpPr txBox="1"/>
          <p:nvPr/>
        </p:nvSpPr>
        <p:spPr>
          <a:xfrm>
            <a:off x="499712" y="1201896"/>
            <a:ext cx="8636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>
                <a:solidFill>
                  <a:srgbClr val="0000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         </a:t>
            </a:r>
            <a:r>
              <a:rPr lang="en-US" altLang="ko-KR" sz="1200" kern="0" spc="0">
                <a:solidFill>
                  <a:srgbClr val="000000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200" kern="0">
                <a:solidFill>
                  <a:srgbClr val="0000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에이전트</a:t>
            </a:r>
            <a:r>
              <a:rPr lang="en-US" altLang="ko-KR" sz="1200" kern="0" spc="0">
                <a:solidFill>
                  <a:srgbClr val="000000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200" kern="0" spc="0">
                <a:solidFill>
                  <a:srgbClr val="000000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개발자</a:t>
            </a:r>
            <a:r>
              <a:rPr lang="en-US" altLang="ko-KR" sz="1200" kern="0" spc="0">
                <a:solidFill>
                  <a:srgbClr val="000000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,             : </a:t>
            </a:r>
            <a:r>
              <a:rPr lang="ko-KR" altLang="en-US" sz="1200" kern="0" spc="0">
                <a:solidFill>
                  <a:srgbClr val="000000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앱</a:t>
            </a:r>
            <a:r>
              <a:rPr lang="en-US" altLang="ko-KR" sz="1200" kern="0" spc="0">
                <a:solidFill>
                  <a:srgbClr val="000000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200" kern="0" spc="0">
                <a:solidFill>
                  <a:srgbClr val="000000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백엔드</a:t>
            </a:r>
            <a:r>
              <a:rPr lang="en-US" altLang="ko-KR" sz="1200" kern="0" spc="0">
                <a:solidFill>
                  <a:srgbClr val="000000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200" kern="0" spc="0">
                <a:solidFill>
                  <a:srgbClr val="000000"/>
                </a:solidFill>
                <a:effectLst/>
                <a:latin typeface="Noto Sans KR" panose="020B0500000000000000" pitchFamily="34" charset="-127"/>
                <a:ea typeface="Noto Sans KR" panose="020B0500000000000000" pitchFamily="34" charset="-127"/>
              </a:rPr>
              <a:t>개발자</a:t>
            </a:r>
            <a:r>
              <a:rPr lang="en-US" altLang="ko-KR" sz="1200" kern="0">
                <a:solidFill>
                  <a:srgbClr val="0000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,             : </a:t>
            </a:r>
            <a:r>
              <a:rPr lang="ko-KR" altLang="en-US" sz="1200" kern="0">
                <a:solidFill>
                  <a:srgbClr val="000000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공동</a:t>
            </a:r>
            <a:endParaRPr lang="ko-KR" altLang="en-US" sz="1200" kern="0" spc="0">
              <a:solidFill>
                <a:srgbClr val="000000"/>
              </a:solidFill>
              <a:effectLst/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578037CA-1816-3E1F-7C22-C045B1B7268E}"/>
              </a:ext>
            </a:extLst>
          </p:cNvPr>
          <p:cNvCxnSpPr>
            <a:cxnSpLocks/>
          </p:cNvCxnSpPr>
          <p:nvPr/>
        </p:nvCxnSpPr>
        <p:spPr>
          <a:xfrm>
            <a:off x="5233815" y="2264001"/>
            <a:ext cx="77901" cy="432578"/>
          </a:xfrm>
          <a:prstGeom prst="bentConnector2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7F72D6C-1C50-0953-3EFF-DC9DDCECE227}"/>
              </a:ext>
            </a:extLst>
          </p:cNvPr>
          <p:cNvSpPr/>
          <p:nvPr/>
        </p:nvSpPr>
        <p:spPr>
          <a:xfrm>
            <a:off x="5655665" y="3176978"/>
            <a:ext cx="421850" cy="188223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AA8E0E7-878E-EEF1-01EE-76F094607FDB}"/>
              </a:ext>
            </a:extLst>
          </p:cNvPr>
          <p:cNvSpPr/>
          <p:nvPr/>
        </p:nvSpPr>
        <p:spPr>
          <a:xfrm>
            <a:off x="6077515" y="3697783"/>
            <a:ext cx="421850" cy="188223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0C867C0B-2001-CD61-91C5-82E853EE7C23}"/>
              </a:ext>
            </a:extLst>
          </p:cNvPr>
          <p:cNvCxnSpPr>
            <a:cxnSpLocks/>
          </p:cNvCxnSpPr>
          <p:nvPr/>
        </p:nvCxnSpPr>
        <p:spPr>
          <a:xfrm>
            <a:off x="5655665" y="2767424"/>
            <a:ext cx="77901" cy="432578"/>
          </a:xfrm>
          <a:prstGeom prst="bentConnector2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768F7D22-B1F2-746F-D11E-9C15E263A5F3}"/>
              </a:ext>
            </a:extLst>
          </p:cNvPr>
          <p:cNvCxnSpPr>
            <a:cxnSpLocks/>
          </p:cNvCxnSpPr>
          <p:nvPr/>
        </p:nvCxnSpPr>
        <p:spPr>
          <a:xfrm>
            <a:off x="6077515" y="3270318"/>
            <a:ext cx="77901" cy="432578"/>
          </a:xfrm>
          <a:prstGeom prst="bentConnector2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3752B3D-0E19-244E-B31C-0BF7FBBB68CE}"/>
              </a:ext>
            </a:extLst>
          </p:cNvPr>
          <p:cNvSpPr/>
          <p:nvPr/>
        </p:nvSpPr>
        <p:spPr>
          <a:xfrm>
            <a:off x="4813332" y="5240797"/>
            <a:ext cx="2943323" cy="188223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6D031A5-4BD0-6742-37BA-6FDF05094805}"/>
              </a:ext>
            </a:extLst>
          </p:cNvPr>
          <p:cNvSpPr/>
          <p:nvPr/>
        </p:nvSpPr>
        <p:spPr>
          <a:xfrm>
            <a:off x="5233815" y="2675445"/>
            <a:ext cx="421850" cy="188223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D70D024-01C7-933B-73E2-00E633F4CE86}"/>
              </a:ext>
            </a:extLst>
          </p:cNvPr>
          <p:cNvSpPr/>
          <p:nvPr/>
        </p:nvSpPr>
        <p:spPr>
          <a:xfrm>
            <a:off x="7756664" y="5775110"/>
            <a:ext cx="527587" cy="18822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E6A6EB9-12E6-1ACD-BFA0-829778420AD3}"/>
              </a:ext>
            </a:extLst>
          </p:cNvPr>
          <p:cNvSpPr/>
          <p:nvPr/>
        </p:nvSpPr>
        <p:spPr>
          <a:xfrm>
            <a:off x="4814715" y="2169889"/>
            <a:ext cx="421850" cy="188223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C346786-7764-D8D3-2E05-595FF4F6C3C0}"/>
              </a:ext>
            </a:extLst>
          </p:cNvPr>
          <p:cNvSpPr/>
          <p:nvPr/>
        </p:nvSpPr>
        <p:spPr>
          <a:xfrm>
            <a:off x="6921214" y="4724773"/>
            <a:ext cx="835449" cy="18361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16622A6D-8877-B474-59F6-8E49F7C8FFF0}"/>
              </a:ext>
            </a:extLst>
          </p:cNvPr>
          <p:cNvCxnSpPr>
            <a:cxnSpLocks/>
          </p:cNvCxnSpPr>
          <p:nvPr/>
        </p:nvCxnSpPr>
        <p:spPr>
          <a:xfrm>
            <a:off x="6500215" y="3786029"/>
            <a:ext cx="77901" cy="432578"/>
          </a:xfrm>
          <a:prstGeom prst="bentConnector2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4FCFFA05-FF5B-4A57-55E9-8C1519918A5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11591" y="5251708"/>
            <a:ext cx="968465" cy="78337"/>
          </a:xfrm>
          <a:prstGeom prst="bentConnector3">
            <a:avLst>
              <a:gd name="adj1" fmla="val 824"/>
            </a:avLst>
          </a:prstGeom>
          <a:ln w="190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207FBF0-1D6B-73B0-A081-306A2CE3D98E}"/>
              </a:ext>
            </a:extLst>
          </p:cNvPr>
          <p:cNvSpPr/>
          <p:nvPr/>
        </p:nvSpPr>
        <p:spPr>
          <a:xfrm>
            <a:off x="555938" y="1259177"/>
            <a:ext cx="342133" cy="161405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8DBBE18-9184-3509-A069-E25EF3F496F1}"/>
              </a:ext>
            </a:extLst>
          </p:cNvPr>
          <p:cNvSpPr/>
          <p:nvPr/>
        </p:nvSpPr>
        <p:spPr>
          <a:xfrm>
            <a:off x="2147974" y="1259177"/>
            <a:ext cx="342133" cy="161405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938AC25-E43F-3428-D28F-E9C6831DC6E6}"/>
              </a:ext>
            </a:extLst>
          </p:cNvPr>
          <p:cNvSpPr/>
          <p:nvPr/>
        </p:nvSpPr>
        <p:spPr>
          <a:xfrm>
            <a:off x="3809653" y="1259177"/>
            <a:ext cx="342133" cy="161405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0F38F53-892B-8181-41F0-70932163CAE3}"/>
              </a:ext>
            </a:extLst>
          </p:cNvPr>
          <p:cNvSpPr/>
          <p:nvPr/>
        </p:nvSpPr>
        <p:spPr>
          <a:xfrm>
            <a:off x="6499365" y="4211195"/>
            <a:ext cx="421850" cy="188223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cap="rnd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625F895D-B409-CB4B-8BDA-0582CC124107}"/>
              </a:ext>
            </a:extLst>
          </p:cNvPr>
          <p:cNvCxnSpPr>
            <a:cxnSpLocks/>
          </p:cNvCxnSpPr>
          <p:nvPr/>
        </p:nvCxnSpPr>
        <p:spPr>
          <a:xfrm>
            <a:off x="6921214" y="4301460"/>
            <a:ext cx="77901" cy="432578"/>
          </a:xfrm>
          <a:prstGeom prst="bentConnector2">
            <a:avLst/>
          </a:prstGeom>
          <a:ln w="19050">
            <a:solidFill>
              <a:srgbClr val="7F7F7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882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3021-9EF6-7890-CDDE-5F8BC081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36355-1BAE-B57A-48C8-C33B5B2E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응급도 격상 조건 데이터 예시 </a:t>
            </a:r>
            <a:r>
              <a:rPr kumimoji="1" lang="en-US" altLang="ko-KR"/>
              <a:t>-</a:t>
            </a:r>
            <a:r>
              <a:rPr kumimoji="1" lang="ko-KR" altLang="en-US"/>
              <a:t> 각막 찰과상</a:t>
            </a:r>
            <a:r>
              <a:rPr kumimoji="1" lang="en-US" altLang="ko-KR"/>
              <a:t>.json</a:t>
            </a:r>
            <a:r>
              <a:rPr kumimoji="1" lang="ko-KR" altLang="en-US"/>
              <a:t>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68504F2-B769-659E-DABB-B5A99756099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1298EA-47D7-17CE-A875-C1C8F4F21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743650"/>
            <a:ext cx="4444470" cy="3789642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8AF646C4-52DC-A1DB-F3F7-096F3D719A1D}"/>
              </a:ext>
            </a:extLst>
          </p:cNvPr>
          <p:cNvSpPr/>
          <p:nvPr/>
        </p:nvSpPr>
        <p:spPr>
          <a:xfrm>
            <a:off x="5200133" y="3374685"/>
            <a:ext cx="1172307" cy="4814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07BCAB-D29E-8831-0FB1-F9EAFF2A5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905" y="1574140"/>
            <a:ext cx="4066439" cy="20682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9B8D734-FB82-4AE8-36A1-45E8AF187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0905" y="4093049"/>
            <a:ext cx="5359866" cy="25301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43AD4F-D558-D4F1-DF98-A76E45286BCD}"/>
              </a:ext>
            </a:extLst>
          </p:cNvPr>
          <p:cNvSpPr txBox="1"/>
          <p:nvPr/>
        </p:nvSpPr>
        <p:spPr>
          <a:xfrm>
            <a:off x="6670905" y="1158675"/>
            <a:ext cx="1824859" cy="412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ko-KR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1. GPT </a:t>
            </a:r>
            <a:r>
              <a:rPr kumimoji="1" lang="ko-KR" altLang="en-US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사용 방식</a:t>
            </a:r>
            <a:endParaRPr kumimoji="1" lang="ko-KR" altLang="en-US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5A43EB-2918-A469-C95C-D97D55D2BB37}"/>
              </a:ext>
            </a:extLst>
          </p:cNvPr>
          <p:cNvSpPr txBox="1"/>
          <p:nvPr/>
        </p:nvSpPr>
        <p:spPr>
          <a:xfrm>
            <a:off x="6670905" y="3680307"/>
            <a:ext cx="1480855" cy="412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ko-KR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2. GPT x </a:t>
            </a:r>
            <a:r>
              <a:rPr kumimoji="1" lang="ko-KR" altLang="en-US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방식</a:t>
            </a:r>
            <a:endParaRPr kumimoji="1" lang="ko-KR" altLang="en-US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B1250878-A2C4-90A9-3DAD-367F2854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25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26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340DA-A53A-5A9B-1346-311741D20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7E529-0BF4-FDDF-DE0C-9FF849D2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응급도 격상 조건 데이터 예시 </a:t>
            </a:r>
            <a:r>
              <a:rPr kumimoji="1" lang="en-US" altLang="ko-KR"/>
              <a:t>-</a:t>
            </a:r>
            <a:r>
              <a:rPr kumimoji="1" lang="ko-KR" altLang="en-US"/>
              <a:t> 코피</a:t>
            </a:r>
            <a:r>
              <a:rPr kumimoji="1" lang="en-US" altLang="ko-KR"/>
              <a:t>.json</a:t>
            </a:r>
            <a:r>
              <a:rPr kumimoji="1" lang="ko-KR" altLang="en-US"/>
              <a:t>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83CA12B-4696-8E71-6C81-2C3C089172F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6721A42-08ED-5432-A496-C4791AF6870E}"/>
              </a:ext>
            </a:extLst>
          </p:cNvPr>
          <p:cNvSpPr/>
          <p:nvPr/>
        </p:nvSpPr>
        <p:spPr>
          <a:xfrm>
            <a:off x="3569093" y="3188266"/>
            <a:ext cx="804367" cy="4814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A546F-3803-5A91-E3E6-C5887056E7B3}"/>
              </a:ext>
            </a:extLst>
          </p:cNvPr>
          <p:cNvSpPr txBox="1"/>
          <p:nvPr/>
        </p:nvSpPr>
        <p:spPr>
          <a:xfrm>
            <a:off x="4609118" y="1435829"/>
            <a:ext cx="1824859" cy="412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ko-KR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1. GPT </a:t>
            </a:r>
            <a:r>
              <a:rPr kumimoji="1" lang="ko-KR" altLang="en-US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사용 방식</a:t>
            </a:r>
            <a:endParaRPr kumimoji="1" lang="ko-KR" altLang="en-US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F14851-F9EE-B825-4FFA-0E9640061012}"/>
              </a:ext>
            </a:extLst>
          </p:cNvPr>
          <p:cNvSpPr txBox="1"/>
          <p:nvPr/>
        </p:nvSpPr>
        <p:spPr>
          <a:xfrm>
            <a:off x="7930958" y="1042998"/>
            <a:ext cx="1480855" cy="412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ko-KR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2. GPT x </a:t>
            </a:r>
            <a:r>
              <a:rPr kumimoji="1" lang="ko-KR" altLang="en-US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방식</a:t>
            </a:r>
            <a:endParaRPr kumimoji="1" lang="ko-KR" altLang="en-US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89BD77-7C9A-E397-739D-7E4055DAE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6" y="1966852"/>
            <a:ext cx="3245009" cy="292429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13345A3-2F20-B33E-EADA-E5BD98F8F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9118" y="1870599"/>
            <a:ext cx="3274869" cy="292429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8017293-D62F-3FF9-C41A-D7F58F7290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33"/>
          <a:stretch>
            <a:fillRect/>
          </a:stretch>
        </p:blipFill>
        <p:spPr>
          <a:xfrm>
            <a:off x="7930958" y="1419092"/>
            <a:ext cx="3688697" cy="5133985"/>
          </a:xfrm>
          <a:prstGeom prst="rect">
            <a:avLst/>
          </a:prstGeom>
        </p:spPr>
      </p:pic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1D0F7667-AA68-C825-E438-056FD3F1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26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1879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25F4F-CA80-6B8B-5AEF-32D5A8B2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27468-450D-6476-1D3E-95A0AC82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응급처치 데이터 예시 </a:t>
            </a:r>
            <a:r>
              <a:rPr kumimoji="1" lang="en-US" altLang="ko-KR"/>
              <a:t>- </a:t>
            </a:r>
            <a:r>
              <a:rPr kumimoji="1" lang="ko-KR" altLang="en-US"/>
              <a:t>눈에화학물질이튀었을때</a:t>
            </a:r>
            <a:r>
              <a:rPr kumimoji="1" lang="en-US" altLang="ko-KR"/>
              <a:t>.json</a:t>
            </a:r>
            <a:endParaRPr kumimoji="1"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95C6B78-88FB-1F4A-447B-496DA3B5CAB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2. </a:t>
            </a:r>
            <a:r>
              <a:rPr kumimoji="1" lang="ko-KR" altLang="en-US"/>
              <a:t>본론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4125D8-DC9E-3016-5FFB-8DED8D047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7" y="1382390"/>
            <a:ext cx="8505825" cy="4810125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E6452A7E-0189-5B03-5A63-D35A02A1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27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7002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190D2-6EDB-4110-C339-29149766E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798A482-7029-D9AA-4B00-0958DE031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추가사항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07BAD12-133C-E21F-FE1A-7C1BD567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Chapter 3. </a:t>
            </a:r>
            <a:r>
              <a:rPr kumimoji="1" lang="ko-KR" altLang="en-US"/>
              <a:t>결론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83262-9992-EA22-89CA-6B8728B2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28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0409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6A8D1-0A20-5282-27E4-693D849E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8904E-E788-A0BF-5EE4-9E0B3C2F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추가사항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961FFA-2F16-89D9-52BC-C7407A0EB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7"/>
            <a:ext cx="11208619" cy="5280322"/>
          </a:xfrm>
        </p:spPr>
        <p:txBody>
          <a:bodyPr>
            <a:normAutofit/>
          </a:bodyPr>
          <a:lstStyle/>
          <a:p>
            <a:r>
              <a:rPr kumimoji="1" lang="ko-KR" altLang="en-US"/>
              <a:t>데이터 베이스 로그 기능 활용하지 않기로 했습니다</a:t>
            </a:r>
            <a:r>
              <a:rPr kumimoji="1" lang="en-US" altLang="ko-KR"/>
              <a:t>.</a:t>
            </a:r>
          </a:p>
          <a:p>
            <a:endParaRPr kumimoji="1" lang="en-US" altLang="ko-KR"/>
          </a:p>
          <a:p>
            <a:r>
              <a:rPr kumimoji="1" lang="en-US" altLang="ko-KR"/>
              <a:t>GPT</a:t>
            </a:r>
            <a:r>
              <a:rPr kumimoji="1" lang="ko-KR" altLang="en-US"/>
              <a:t>가 아닌 소규모 </a:t>
            </a:r>
            <a:r>
              <a:rPr kumimoji="1" lang="en-US" altLang="ko-KR"/>
              <a:t>Language</a:t>
            </a:r>
            <a:r>
              <a:rPr kumimoji="1" lang="ko-KR" altLang="en-US"/>
              <a:t>모델을 사용하는 것은 다른 기능을 전부 완성한 뒤에 남은 기간을 보고 정하기로 했습니다</a:t>
            </a:r>
            <a:r>
              <a:rPr kumimoji="1"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381D23-DC38-1757-4773-5E083896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29</a:t>
            </a:fld>
            <a:endParaRPr kumimoji="1"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00FF9A8-646F-91FA-3A1B-182E50B89A4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/>
              <a:t>Chapter 3. </a:t>
            </a:r>
            <a:r>
              <a:rPr kumimoji="1" lang="ko-KR" altLang="en-US"/>
              <a:t>결론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0342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145BC3A7-EE7B-FE4A-0411-5D5E1EE5A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/>
              <a:t>감사합니다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990A8-917B-1552-CAE1-FEBA05A43420}"/>
              </a:ext>
            </a:extLst>
          </p:cNvPr>
          <p:cNvSpPr txBox="1"/>
          <p:nvPr/>
        </p:nvSpPr>
        <p:spPr>
          <a:xfrm>
            <a:off x="6957117" y="5023936"/>
            <a:ext cx="400546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kumimoji="1" lang="en-US" altLang="ko-KR" sz="2000">
                <a:latin typeface="Montserrat Medium" pitchFamily="2" charset="0"/>
              </a:rPr>
              <a:t>Park</a:t>
            </a:r>
            <a:r>
              <a:rPr kumimoji="1" lang="ko-KR" altLang="en-US" sz="2000">
                <a:latin typeface="Montserrat Medium" pitchFamily="2" charset="0"/>
              </a:rPr>
              <a:t> </a:t>
            </a:r>
            <a:r>
              <a:rPr kumimoji="1" lang="en-US" altLang="ko-KR" sz="2000">
                <a:latin typeface="Montserrat Medium" pitchFamily="2" charset="0"/>
              </a:rPr>
              <a:t>Junhoo</a:t>
            </a:r>
          </a:p>
          <a:p>
            <a:pPr algn="l">
              <a:lnSpc>
                <a:spcPct val="100000"/>
              </a:lnSpc>
            </a:pPr>
            <a:endParaRPr kumimoji="1" lang="en-US" altLang="ko-KR" sz="1400" b="0" i="0">
              <a:latin typeface="Montserrat" pitchFamily="2" charset="0"/>
              <a:hlinkClick r:id="rId3"/>
            </a:endParaRPr>
          </a:p>
          <a:p>
            <a:pPr algn="l">
              <a:lnSpc>
                <a:spcPct val="100000"/>
              </a:lnSpc>
            </a:pPr>
            <a:r>
              <a:rPr kumimoji="1" lang="en-US" altLang="ko-KR" sz="1400" b="0" i="0">
                <a:latin typeface="Montserrat" pitchFamily="2" charset="0"/>
              </a:rPr>
              <a:t>email</a:t>
            </a:r>
            <a:endParaRPr kumimoji="1" lang="en-US" altLang="ko-KR" sz="1400" b="0" i="0" dirty="0">
              <a:latin typeface="Montserrat" pitchFamily="2" charset="0"/>
            </a:endParaRPr>
          </a:p>
          <a:p>
            <a:pPr algn="l">
              <a:lnSpc>
                <a:spcPct val="100000"/>
              </a:lnSpc>
            </a:pPr>
            <a:r>
              <a:rPr kumimoji="1" lang="en-US" altLang="ko-KR" sz="1400" b="0" i="0" dirty="0">
                <a:latin typeface="Montserrat" pitchFamily="2" charset="0"/>
              </a:rPr>
              <a:t>https://</a:t>
            </a:r>
            <a:r>
              <a:rPr kumimoji="1" lang="en-US" altLang="ko-KR" sz="1400" b="0" i="0" dirty="0" err="1">
                <a:latin typeface="Montserrat" pitchFamily="2" charset="0"/>
              </a:rPr>
              <a:t>kilab.hanbat.ac.kr</a:t>
            </a:r>
            <a:r>
              <a:rPr kumimoji="1" lang="en-US" altLang="ko-KR" sz="1400" b="0" i="0" dirty="0">
                <a:latin typeface="Montserrat" pitchFamily="2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0749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kumimoji="1" spc="-80" dirty="0" smtClean="0">
            <a:latin typeface="Montserrat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1231</Words>
  <Application>Microsoft Office PowerPoint</Application>
  <PresentationFormat>와이드스크린</PresentationFormat>
  <Paragraphs>240</Paragraphs>
  <Slides>30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3" baseType="lpstr">
      <vt:lpstr>Noto Sans KR</vt:lpstr>
      <vt:lpstr>Arial</vt:lpstr>
      <vt:lpstr>Calibri</vt:lpstr>
      <vt:lpstr>Calibri Light</vt:lpstr>
      <vt:lpstr>G마켓 산스 TTF Bold</vt:lpstr>
      <vt:lpstr>G마켓 산스 TTF Medium</vt:lpstr>
      <vt:lpstr>Montserrat</vt:lpstr>
      <vt:lpstr>Montserrat Light</vt:lpstr>
      <vt:lpstr>Montserrat Medium</vt:lpstr>
      <vt:lpstr>Montserrat SemiBold</vt:lpstr>
      <vt:lpstr>Wingdings</vt:lpstr>
      <vt:lpstr>맑은 고딕</vt:lpstr>
      <vt:lpstr>Office 테마</vt:lpstr>
      <vt:lpstr>캡스톤 디자인</vt:lpstr>
      <vt:lpstr>Outline</vt:lpstr>
      <vt:lpstr>Chapter 1. 서론</vt:lpstr>
      <vt:lpstr>서론</vt:lpstr>
      <vt:lpstr>Chapter 2. 본론</vt:lpstr>
      <vt:lpstr>테스트 데이터 셋 예시</vt:lpstr>
      <vt:lpstr>테스트 데이터 셋 예시</vt:lpstr>
      <vt:lpstr>코드 진행 방식</vt:lpstr>
      <vt:lpstr>초기 증상 분석 및 초기 병명 추론 방법</vt:lpstr>
      <vt:lpstr>코드 진행 방식</vt:lpstr>
      <vt:lpstr>후속 질문 증상 선정 방법</vt:lpstr>
      <vt:lpstr>후속 질문 생성 규칙</vt:lpstr>
      <vt:lpstr>코드 진행 방식</vt:lpstr>
      <vt:lpstr>후속질문 중복 확인 방법</vt:lpstr>
      <vt:lpstr>스킵증상</vt:lpstr>
      <vt:lpstr>사용자 응답 분류 방식</vt:lpstr>
      <vt:lpstr>증상 기반 병명 추론(chat history 사용x)</vt:lpstr>
      <vt:lpstr>코드 진행 방식</vt:lpstr>
      <vt:lpstr>상태: 확정 분기</vt:lpstr>
      <vt:lpstr>코드 진행 방식</vt:lpstr>
      <vt:lpstr>응급도 기반 후속 조치(예시, 구현x)</vt:lpstr>
      <vt:lpstr>코드 진행 방식</vt:lpstr>
      <vt:lpstr>응급처치 안내(예시, 구현x)</vt:lpstr>
      <vt:lpstr>방학 마일스톤</vt:lpstr>
      <vt:lpstr>응급도 격상 조건 데이터 예시 - 각막 찰과상.json </vt:lpstr>
      <vt:lpstr>응급도 격상 조건 데이터 예시 - 코피.json </vt:lpstr>
      <vt:lpstr>응급처치 데이터 예시 - 눈에화학물질이튀었을때.json</vt:lpstr>
      <vt:lpstr>Chapter 3. 결론</vt:lpstr>
      <vt:lpstr>추가사항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>박천음</dc:creator>
  <cp:lastModifiedBy>박준후</cp:lastModifiedBy>
  <cp:revision>1790</cp:revision>
  <dcterms:created xsi:type="dcterms:W3CDTF">2024-03-04T14:22:26Z</dcterms:created>
  <dcterms:modified xsi:type="dcterms:W3CDTF">2025-06-30T00:53:14Z</dcterms:modified>
  <cp:version/>
</cp:coreProperties>
</file>