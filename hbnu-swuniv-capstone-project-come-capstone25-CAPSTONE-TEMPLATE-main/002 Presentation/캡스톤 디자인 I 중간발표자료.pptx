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87" r:id="rId1"/>
  </p:sldMasterIdLst>
  <p:notesMasterIdLst>
    <p:notesMasterId r:id="rId25"/>
  </p:notesMasterIdLst>
  <p:sldIdLst>
    <p:sldId id="260" r:id="rId2"/>
    <p:sldId id="323" r:id="rId3"/>
    <p:sldId id="387" r:id="rId4"/>
    <p:sldId id="424" r:id="rId5"/>
    <p:sldId id="388" r:id="rId6"/>
    <p:sldId id="389" r:id="rId7"/>
    <p:sldId id="405" r:id="rId8"/>
    <p:sldId id="426" r:id="rId9"/>
    <p:sldId id="434" r:id="rId10"/>
    <p:sldId id="430" r:id="rId11"/>
    <p:sldId id="429" r:id="rId12"/>
    <p:sldId id="428" r:id="rId13"/>
    <p:sldId id="427" r:id="rId14"/>
    <p:sldId id="435" r:id="rId15"/>
    <p:sldId id="391" r:id="rId16"/>
    <p:sldId id="439" r:id="rId17"/>
    <p:sldId id="409" r:id="rId18"/>
    <p:sldId id="437" r:id="rId19"/>
    <p:sldId id="431" r:id="rId20"/>
    <p:sldId id="432" r:id="rId21"/>
    <p:sldId id="438" r:id="rId22"/>
    <p:sldId id="436" r:id="rId23"/>
    <p:sldId id="28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긴급신고 대상 112 경찰의 신속대응방안에 관한 연구, 치안정책연구소20" id="{DACBC49F-978F-4482-8798-3E213988985E}">
          <p14:sldIdLst>
            <p14:sldId id="260"/>
            <p14:sldId id="323"/>
            <p14:sldId id="387"/>
            <p14:sldId id="424"/>
            <p14:sldId id="388"/>
            <p14:sldId id="389"/>
            <p14:sldId id="405"/>
            <p14:sldId id="426"/>
            <p14:sldId id="434"/>
            <p14:sldId id="430"/>
            <p14:sldId id="429"/>
            <p14:sldId id="428"/>
            <p14:sldId id="427"/>
            <p14:sldId id="435"/>
            <p14:sldId id="391"/>
            <p14:sldId id="439"/>
            <p14:sldId id="409"/>
            <p14:sldId id="437"/>
            <p14:sldId id="431"/>
            <p14:sldId id="432"/>
            <p14:sldId id="438"/>
            <p14:sldId id="436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orient="horz" pos="617">
          <p15:clr>
            <a:srgbClr val="A4A3A4"/>
          </p15:clr>
        </p15:guide>
        <p15:guide id="3" pos="3839">
          <p15:clr>
            <a:srgbClr val="A4A3A4"/>
          </p15:clr>
        </p15:guide>
        <p15:guide id="4" pos="3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2" autoAdjust="0"/>
    <p:restoredTop sz="91858" autoAdjust="0"/>
  </p:normalViewPr>
  <p:slideViewPr>
    <p:cSldViewPr snapToGrid="0">
      <p:cViewPr varScale="1">
        <p:scale>
          <a:sx n="89" d="100"/>
          <a:sy n="89" d="100"/>
        </p:scale>
        <p:origin x="204" y="84"/>
      </p:cViewPr>
      <p:guideLst>
        <p:guide orient="horz" pos="2159"/>
        <p:guide orient="horz" pos="617"/>
        <p:guide pos="3839"/>
        <p:guide pos="3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85" d="100"/>
        <a:sy n="1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kumimoji="1"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0E54E21-611D-C04D-9334-004A162C87B3}" type="datetime1">
              <a:rPr kumimoji="1" lang="ko-KR" altLang="en-US"/>
              <a:pPr lvl="0">
                <a:defRPr/>
              </a:pPr>
              <a:t>2025-10-29</a:t>
            </a:fld>
            <a:endParaRPr kumimoji="1" lang="ko-KR" altLang="en-US" dirty="0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kumimoji="1" lang="ko-KR" altLang="en-US"/>
              <a:t>마스터 텍스트 스타일을 편집하려면 클릭</a:t>
            </a:r>
          </a:p>
          <a:p>
            <a:pPr lvl="1">
              <a:defRPr/>
            </a:pPr>
            <a:r>
              <a:rPr kumimoji="1" lang="ko-KR" altLang="en-US"/>
              <a:t>두 번째 수준</a:t>
            </a:r>
          </a:p>
          <a:p>
            <a:pPr lvl="2">
              <a:defRPr/>
            </a:pPr>
            <a:r>
              <a:rPr kumimoji="1" lang="ko-KR" altLang="en-US"/>
              <a:t>세 번째 수준</a:t>
            </a:r>
          </a:p>
          <a:p>
            <a:pPr lvl="3">
              <a:defRPr/>
            </a:pPr>
            <a:r>
              <a:rPr kumimoji="1" lang="ko-KR" altLang="en-US"/>
              <a:t>네 번째 수준</a:t>
            </a:r>
          </a:p>
          <a:p>
            <a:pPr lvl="4">
              <a:defRPr/>
            </a:pPr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kumimoji="1"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A1E7A53-FE67-AF4B-9521-15AAABA35350}" type="slidenum">
              <a:rPr kumimoji="1" lang="ko-KR" altLang="en-US"/>
              <a:pPr lvl="0">
                <a:defRPr/>
              </a:pPr>
              <a:t>‹#›</a:t>
            </a:fld>
            <a:endParaRPr kumimoji="1"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en-US" altLang="en-US"/>
              <a:pPr lvl="0">
                <a:defRPr/>
              </a:pPr>
              <a:t>1</a:t>
            </a:fld>
            <a:endParaRPr kumimoji="1"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7330A-1F07-BC7F-2FEE-7C03BE5A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545450-F2BA-940B-ACA5-0F54C5084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3A6010-20FA-4A99-802D-3A785D5C4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412AAF-0F00-61D2-E9D2-CE0952DB7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4089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D9445-343C-886E-914B-9F44D6A77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3B5F673-E5B0-B7FD-3FB9-D31C7B53A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0C5665-9D0C-D465-A280-096CC26CE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443E0-5692-961F-FF77-9052FB51B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321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CE77F-5430-4F50-905C-745D9053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C4A6D91-4372-34FA-425B-63CA18E49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38348B-C5A5-EA19-42AB-0702F029D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9B14E5-B2F3-4AF8-43F6-789BAC031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31309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591FA-13F5-CA42-D878-6305E49D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CC8ED1B-7722-32A3-9D4B-82C59D40E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20B5FC-AD93-700E-1C0D-F709D8AF4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CE0BA-9967-D05C-3FA2-F3485C62D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21510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73958-D179-056F-1918-61C66E797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D7D4F-07E4-6062-C25E-A00C62E87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9D58CC3-2A12-F81C-3978-402A6D6C4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80F88D-E66F-FB36-31E4-E4A3470BB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61462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E2103-5F39-67B4-5E11-ADC4EFF6A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FBDF395-CA05-F7A1-DB5E-04D475088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CD9821-6127-3494-C64E-A345E2643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B74BBB-9E63-8B32-DF0A-BBC7FF17D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659480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DC30-F296-F50D-8BC5-F29CED3F8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DF9253-5820-EF71-7268-4D9DE56F6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AD1E8C-DD07-6021-A0E8-73B5D69C9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5BE543-1DB8-8D41-A6C8-AD455EF92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50713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D0BCF-1DED-6D82-7D58-209F31CBF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5CF039-F9E6-FA04-7AA6-38D511B89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DCDEE5-F9E1-4214-FC54-09FCCD1A1B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48052E-027C-EA4E-66C4-6E4D779AC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65093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D908-F7CA-D586-A1F4-3F4C1324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CBADDA-A82B-E5DD-D718-51F257368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A00C83-B1B8-9B99-647C-219EE627F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9F89FA-84D5-9E16-5CFB-28074D647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42681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E86FB-188E-D6D1-FA4C-CD25E819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CE7B23-ABB6-E4B1-D9B8-50EB3786FF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9CE572-BBD6-C843-1D53-B0B6819127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A53CC4-CA85-46B5-377A-17D43B0F0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07785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75A1-BBD9-3FD9-08ED-344630D30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CD8206-65D0-5ADB-D104-32AD17CD3E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2ADAD8F-DE42-4F68-8047-C8F52E10D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9F7101-DFE7-AC41-39A2-C74B95ACC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541959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09DE8-3D3B-4C57-AD38-A50C275E4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32270DB-3E45-040F-BDF9-2CF311179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5727C3-C17D-AF57-E3FD-B9C0B601B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C8288-2389-4A13-B570-F2CC174F1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918808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D9B60-B921-D1B1-9648-EFC15334D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5AD878-8A84-7AEE-97EF-971F5187A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B8490B-13F0-F0C3-94FF-46172C5C5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38ED7F-C219-E5E1-676B-F37D50165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7225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52CC-8E39-8574-7E7B-2BA424EA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D690BE6-CAAC-F1F1-E5EB-63BCE4EC8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BE2D09-FB80-DB9E-1303-BCEFB3142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2E4E0-8A3B-61FD-D39F-35F53CF2B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42044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92170-2FFB-3121-E344-9D7ECB618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F6FC9F-0345-E416-F363-2C563AD5A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C15F85-1B49-872F-DA98-A009A647A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BA02A-B2DB-CBC2-BDAC-A8ED99E1C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A1E7A53-FE67-AF4B-9521-15AAABA35350}" type="slidenum">
              <a:rPr kumimoji="1" lang="ko-KR" altLang="en-US" smtClean="0"/>
              <a:pPr lvl="0">
                <a:defRPr/>
              </a:pPr>
              <a:t>22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2385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1E7A53-FE67-AF4B-9521-15AAABA35350}" type="slidenum">
              <a:rPr kumimoji="1" lang="ko-KR" altLang="en-US" smtClean="0"/>
              <a:t>23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905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717260"/>
            <a:ext cx="6009861" cy="76793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2691742"/>
            <a:ext cx="6009861" cy="5293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pic>
        <p:nvPicPr>
          <p:cNvPr id="14" name="그림 13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DDFF9E73-E9D1-327C-7B7A-5E09132DD2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14CCBF-8C07-5287-B78C-3500C54DF47B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9F282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2A3A6C1-A1DC-3748-9B73-E36BE01DDCB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2909" y="348839"/>
            <a:ext cx="470335" cy="3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39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FABF87-51CA-0E01-1527-A03075C21269}"/>
              </a:ext>
            </a:extLst>
          </p:cNvPr>
          <p:cNvSpPr/>
          <p:nvPr userDrawn="1"/>
        </p:nvSpPr>
        <p:spPr>
          <a:xfrm>
            <a:off x="-412" y="0"/>
            <a:ext cx="6630652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5864088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Arial" panose="020B0604020202020204" pitchFamily="34" charset="0"/>
              <a:buChar char="•"/>
              <a:defRPr sz="2800" b="0" i="0" baseline="0">
                <a:solidFill>
                  <a:schemeClr val="bg1"/>
                </a:solidFill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Wingdings" pitchFamily="2" charset="2"/>
              <a:buChar char="§"/>
              <a:defRPr sz="2400" b="0" i="0" baseline="0">
                <a:solidFill>
                  <a:schemeClr val="bg1"/>
                </a:solidFill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5864087" cy="481467"/>
          </a:xfrm>
        </p:spPr>
        <p:txBody>
          <a:bodyPr>
            <a:noAutofit/>
          </a:bodyPr>
          <a:lstStyle>
            <a:lvl1pPr>
              <a:defRPr sz="3200" b="0" i="0" baseline="0">
                <a:solidFill>
                  <a:schemeClr val="bg1"/>
                </a:solidFill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E3CC6-E7DF-52CB-0B87-6962AAD3CF0F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4A2BA9-56CE-C45D-E511-DE5316B82A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269" y="375945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47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665485"/>
            <a:ext cx="11277599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505800">
              <a:lnSpc>
                <a:spcPct val="130000"/>
              </a:lnSpc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 marL="828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3pPr>
            <a:lvl4pPr marL="1116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4pPr>
            <a:lvl5pPr marL="1440000">
              <a:lnSpc>
                <a:spcPct val="130000"/>
              </a:lnSpc>
              <a:defRPr sz="2000" b="0" i="0" baseline="0">
                <a:latin typeface="Montserrat" pitchFamily="2" charset="0"/>
                <a:ea typeface="맑은 고딕" panose="020B0503020000020004" pitchFamily="34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3DA2AA45-5AC3-2FA9-EE6E-AC04ABD53094}"/>
              </a:ext>
            </a:extLst>
          </p:cNvPr>
          <p:cNvCxnSpPr>
            <a:cxnSpLocks/>
          </p:cNvCxnSpPr>
          <p:nvPr userDrawn="1"/>
        </p:nvCxnSpPr>
        <p:spPr>
          <a:xfrm>
            <a:off x="457200" y="556760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52E7674-E8A0-3DC2-EEF7-DEFE9B591A9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57199" y="208724"/>
            <a:ext cx="8153404" cy="243096"/>
          </a:xfrm>
        </p:spPr>
        <p:txBody>
          <a:bodyPr>
            <a:noAutofit/>
          </a:bodyPr>
          <a:lstStyle>
            <a:lvl1pPr marL="0" indent="0">
              <a:buNone/>
              <a:defRPr sz="1200" b="0" i="0">
                <a:latin typeface="Montserrat Medium" pitchFamily="2" charset="0"/>
              </a:defRPr>
            </a:lvl1pPr>
            <a:lvl2pPr>
              <a:defRPr sz="1800" b="0" i="0">
                <a:latin typeface="Montserrat Light" pitchFamily="2" charset="0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en-US" dirty="0"/>
              <a:t>Chapters</a:t>
            </a:r>
          </a:p>
        </p:txBody>
      </p:sp>
      <p:pic>
        <p:nvPicPr>
          <p:cNvPr id="9" name="그림 8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608824DE-D7A6-87A0-2388-BF9FE22B27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3759" y="80034"/>
            <a:ext cx="341037" cy="343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09792F-F0FF-356D-87B7-AAFF48E30A56}"/>
              </a:ext>
            </a:extLst>
          </p:cNvPr>
          <p:cNvSpPr txBox="1"/>
          <p:nvPr userDrawn="1"/>
        </p:nvSpPr>
        <p:spPr>
          <a:xfrm>
            <a:off x="9391649" y="51705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01235A-3225-943E-C45B-9B6C0447DD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8234" y="130211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77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7" y="867585"/>
            <a:ext cx="11267665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+mj-lt"/>
              <a:buAutoNum type="arabicParenR"/>
              <a:defRPr sz="24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3182FE9-07AA-E49B-9310-8B73D9A19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cxnSp>
        <p:nvCxnSpPr>
          <p:cNvPr id="13" name="직선 연결선[R] 12">
            <a:extLst>
              <a:ext uri="{FF2B5EF4-FFF2-40B4-BE49-F238E27FC236}">
                <a16:creationId xmlns:a16="http://schemas.microsoft.com/office/drawing/2014/main" id="{3F9B09D2-CABE-A99A-9462-FDADEAEEA804}"/>
              </a:ext>
            </a:extLst>
          </p:cNvPr>
          <p:cNvCxnSpPr>
            <a:cxnSpLocks/>
          </p:cNvCxnSpPr>
          <p:nvPr userDrawn="1"/>
        </p:nvCxnSpPr>
        <p:spPr>
          <a:xfrm>
            <a:off x="457203" y="774095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8143465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E80D6-59A8-51B9-6626-338ADFCADFC4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AFEB492-9F33-F64B-5684-4D965C6094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269" y="375945"/>
            <a:ext cx="328446" cy="242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47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81886E5-8F90-AD5E-1A21-7E7CC066CA0D}"/>
              </a:ext>
            </a:extLst>
          </p:cNvPr>
          <p:cNvSpPr/>
          <p:nvPr userDrawn="1"/>
        </p:nvSpPr>
        <p:spPr>
          <a:xfrm>
            <a:off x="6636027" y="0"/>
            <a:ext cx="5560532" cy="6858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E445B9-9853-E275-B771-9124F4D8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5864088" cy="5662420"/>
          </a:xfrm>
        </p:spPr>
        <p:txBody>
          <a:bodyPr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sz="2800" b="0" i="0" baseline="0">
                <a:latin typeface="Montserrat" pitchFamily="2" charset="0"/>
                <a:ea typeface="맑은 고딕" panose="020B0503020000020004" pitchFamily="34" charset="-127"/>
              </a:defRPr>
            </a:lvl1pPr>
            <a:lvl2pPr marL="800100" indent="-342900">
              <a:lnSpc>
                <a:spcPct val="130000"/>
              </a:lnSpc>
              <a:buFont typeface="+mj-lt"/>
              <a:buAutoNum type="arabicParenR"/>
              <a:defRPr sz="2800" b="0" i="0" baseline="0">
                <a:latin typeface="Montserrat" pitchFamily="2" charset="0"/>
                <a:ea typeface="맑은 고딕" panose="020B0503020000020004" pitchFamily="34" charset="-127"/>
              </a:defRPr>
            </a:lvl2pPr>
            <a:lvl3pPr>
              <a:defRPr sz="1600" b="0" i="0">
                <a:latin typeface="Montserrat Light" pitchFamily="2" charset="0"/>
              </a:defRPr>
            </a:lvl3pPr>
            <a:lvl4pPr>
              <a:defRPr sz="1600" b="0" i="0">
                <a:latin typeface="Montserrat Light" pitchFamily="2" charset="0"/>
              </a:defRPr>
            </a:lvl4pPr>
            <a:lvl5pPr>
              <a:defRPr sz="1600" b="0" i="0">
                <a:latin typeface="Montserrat Light" pitchFamily="2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742B18-DDC6-7209-72A6-9EF666DBE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8" y="216261"/>
            <a:ext cx="5864087" cy="481467"/>
          </a:xfrm>
        </p:spPr>
        <p:txBody>
          <a:bodyPr>
            <a:noAutofit/>
          </a:bodyPr>
          <a:lstStyle>
            <a:lvl1pPr>
              <a:defRPr sz="32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75EEC2CB-D5B2-6AED-1268-A066F303E5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E80D6-59A8-51B9-6626-338ADFCADFC4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solidFill>
                  <a:schemeClr val="bg1"/>
                </a:solidFill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F1E5B42-5B05-96D0-3CBE-644985949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7F7132-708D-5B56-4FB7-D0CFA7285D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53518" y="375944"/>
            <a:ext cx="328931" cy="24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469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4526F982-1F90-AF93-6401-AD29EB3494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83825" y="327996"/>
            <a:ext cx="341037" cy="343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F683F-E331-2A49-1274-4F24074BA4F7}"/>
              </a:ext>
            </a:extLst>
          </p:cNvPr>
          <p:cNvSpPr txBox="1"/>
          <p:nvPr userDrawn="1"/>
        </p:nvSpPr>
        <p:spPr>
          <a:xfrm>
            <a:off x="9381715" y="299667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C00000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38AC26E-016B-AE7A-CF3F-12023C4291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91069" y="2121291"/>
            <a:ext cx="6009861" cy="52939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0" i="0" baseline="0">
                <a:latin typeface="Montserrat Medium" pitchFamily="2" charset="0"/>
                <a:ea typeface="맑은 고딕" panose="020B0503020000020004" pitchFamily="34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감사합니다</a:t>
            </a:r>
            <a:endParaRPr 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7F3EE76-07A0-03C0-ADEC-3EE18D6F83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42909" y="348839"/>
            <a:ext cx="470335" cy="3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25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67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cxnSp>
        <p:nvCxnSpPr>
          <p:cNvPr id="9" name="직선 연결선[R] 8">
            <a:extLst>
              <a:ext uri="{FF2B5EF4-FFF2-40B4-BE49-F238E27FC236}">
                <a16:creationId xmlns:a16="http://schemas.microsoft.com/office/drawing/2014/main" id="{605B3A33-AB95-BF29-FC2E-DBB943CEAE9D}"/>
              </a:ext>
            </a:extLst>
          </p:cNvPr>
          <p:cNvCxnSpPr>
            <a:cxnSpLocks/>
          </p:cNvCxnSpPr>
          <p:nvPr userDrawn="1"/>
        </p:nvCxnSpPr>
        <p:spPr>
          <a:xfrm>
            <a:off x="457203" y="774095"/>
            <a:ext cx="11277599" cy="0"/>
          </a:xfrm>
          <a:prstGeom prst="line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텍스트, 스크린샷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E92327C2-7B55-78B3-6BB1-A9B8178B6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93765" y="335667"/>
            <a:ext cx="341037" cy="34345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B1AB1C-DFCF-1062-BC9B-6656D69446AA}"/>
              </a:ext>
            </a:extLst>
          </p:cNvPr>
          <p:cNvSpPr txBox="1"/>
          <p:nvPr userDrawn="1"/>
        </p:nvSpPr>
        <p:spPr>
          <a:xfrm>
            <a:off x="9391655" y="307338"/>
            <a:ext cx="19921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K</a:t>
            </a:r>
            <a:r>
              <a:rPr kumimoji="1" lang="en-US" altLang="ko-KR" sz="1000" b="0" i="0" dirty="0">
                <a:latin typeface="Montserrat" pitchFamily="2" charset="0"/>
              </a:rPr>
              <a:t>nowledge </a:t>
            </a:r>
            <a:r>
              <a:rPr kumimoji="1" lang="en-US" altLang="ko-KR" sz="1000" b="0" i="0" dirty="0">
                <a:solidFill>
                  <a:srgbClr val="DF5E5A"/>
                </a:solidFill>
                <a:latin typeface="Montserrat" pitchFamily="2" charset="0"/>
              </a:rPr>
              <a:t>I</a:t>
            </a:r>
            <a:r>
              <a:rPr kumimoji="1" lang="en-US" altLang="ko-KR" sz="1000" b="0" i="0" dirty="0">
                <a:latin typeface="Montserrat" pitchFamily="2" charset="0"/>
              </a:rPr>
              <a:t>ntelligence Lab.</a:t>
            </a:r>
          </a:p>
          <a:p>
            <a:pPr algn="r"/>
            <a:r>
              <a:rPr kumimoji="1" lang="en-US" altLang="ko-KR" sz="1000" b="0" i="0" dirty="0">
                <a:latin typeface="Montserrat" pitchFamily="2" charset="0"/>
              </a:rPr>
              <a:t>Hanbat National University</a:t>
            </a:r>
            <a:endParaRPr kumimoji="1" lang="ko-KR" altLang="en-US" sz="1000" b="0" i="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07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0811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091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2667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5478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7564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32310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04260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60464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E740A2-DD4F-934A-FECD-F728F01E1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73"/>
            <a:ext cx="9144000" cy="1074185"/>
          </a:xfrm>
        </p:spPr>
        <p:txBody>
          <a:bodyPr anchor="b"/>
          <a:lstStyle>
            <a:lvl1pPr algn="ctr">
              <a:defRPr sz="4500" b="1" i="0">
                <a:latin typeface="Montserrat SemiBold" pitchFamily="2" charset="0"/>
              </a:defRPr>
            </a:lvl1pPr>
          </a:lstStyle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21582B-FBA9-1252-85F6-322E97D984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26786"/>
            <a:ext cx="9144000" cy="443188"/>
          </a:xfrm>
        </p:spPr>
        <p:txBody>
          <a:bodyPr/>
          <a:lstStyle>
            <a:lvl1pPr marL="0" indent="0" algn="ctr">
              <a:buNone/>
              <a:defRPr sz="1800" b="1" i="0">
                <a:latin typeface="Montserrat SemiBold" pitchFamily="2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kumimoji="1"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7256F9-B209-D9EF-BE72-4041F8EBF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B27076-173B-8E9C-17CB-852AA239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Montserrat Light" pitchFamily="2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AA520A-3B58-5BE7-A96D-26A3CC12E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/>
              <a:t>‹#›</a:t>
            </a:fld>
            <a:endParaRPr kumimoji="1" lang="ko-KR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774638A-856C-535D-48AE-2D8527E2D412}"/>
              </a:ext>
            </a:extLst>
          </p:cNvPr>
          <p:cNvSpPr txBox="1">
            <a:spLocks/>
          </p:cNvSpPr>
          <p:nvPr userDrawn="1"/>
        </p:nvSpPr>
        <p:spPr>
          <a:xfrm>
            <a:off x="8153400" y="4158319"/>
            <a:ext cx="2514600" cy="133802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kumimoji="1" lang="ko-KR" altLang="en-US" sz="1800" dirty="0"/>
          </a:p>
        </p:txBody>
      </p:sp>
      <p:pic>
        <p:nvPicPr>
          <p:cNvPr id="7" name="Picture 2" descr="C:\Users\thkim\Desktop\UI_01\re05004.jpg">
            <a:extLst>
              <a:ext uri="{FF2B5EF4-FFF2-40B4-BE49-F238E27FC236}">
                <a16:creationId xmlns:a16="http://schemas.microsoft.com/office/drawing/2014/main" id="{89BA0573-CD7F-FFF9-2A5A-26A72BF0A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509" y="96840"/>
            <a:ext cx="1686339" cy="41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5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69936-1CF7-8B41-99CC-EA13D2E0EB90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89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6" r:id="rId2"/>
    <p:sldLayoutId id="2147483662" r:id="rId3"/>
    <p:sldLayoutId id="2147483663" r:id="rId4"/>
    <p:sldLayoutId id="2147483684" r:id="rId5"/>
    <p:sldLayoutId id="2147483685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49" r:id="rId1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parkce@hanbat.ac.kr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EB0B4-1ABC-E12D-8767-D9DE78C9E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717260"/>
            <a:ext cx="7810743" cy="767936"/>
          </a:xfrm>
        </p:spPr>
        <p:txBody>
          <a:bodyPr>
            <a:normAutofit/>
          </a:bodyPr>
          <a:lstStyle/>
          <a:p>
            <a:pPr algn="l"/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응급처치 어플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9617DC4-D64F-CE55-5CE9-2A3C45B1F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2691742"/>
            <a:ext cx="6389637" cy="115805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ko-KR" alt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296A9B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캡스톤</a:t>
            </a:r>
            <a:r>
              <a:rPr kumimoji="1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96A9B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디자인</a:t>
            </a:r>
            <a:endParaRPr kumimoji="1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296A9B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1F4FAB-5A55-CD45-A31E-A59F81ED0C40}"/>
              </a:ext>
            </a:extLst>
          </p:cNvPr>
          <p:cNvSpPr txBox="1"/>
          <p:nvPr/>
        </p:nvSpPr>
        <p:spPr>
          <a:xfrm>
            <a:off x="6848061" y="4570931"/>
            <a:ext cx="40054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ko-KR" sz="2000" b="0" i="0" dirty="0">
                <a:latin typeface="Montserrat Medium" pitchFamily="2" charset="0"/>
              </a:rPr>
              <a:t>Junhoo</a:t>
            </a:r>
            <a:r>
              <a:rPr kumimoji="1" lang="ko-KR" altLang="en-US" sz="2000" b="0" i="0" dirty="0">
                <a:latin typeface="Montserrat Medium" pitchFamily="2" charset="0"/>
              </a:rPr>
              <a:t> </a:t>
            </a:r>
            <a:r>
              <a:rPr kumimoji="1" lang="en-US" altLang="ko-KR" sz="2000" b="0" i="0" dirty="0">
                <a:latin typeface="Montserrat Medium" pitchFamily="2" charset="0"/>
              </a:rPr>
              <a:t>Park</a:t>
            </a:r>
            <a:endParaRPr kumimoji="1" lang="en-US" altLang="ko-KR" sz="1400" b="0" i="0" dirty="0">
              <a:latin typeface="Montserrat" pitchFamily="2" charset="0"/>
            </a:endParaRPr>
          </a:p>
          <a:p>
            <a:pPr algn="l">
              <a:lnSpc>
                <a:spcPct val="150000"/>
              </a:lnSpc>
            </a:pPr>
            <a:endParaRPr kumimoji="1" lang="en-US" altLang="ko-KR" sz="1600" dirty="0">
              <a:latin typeface="Montserrat Medium" pitchFamily="2" charset="0"/>
            </a:endParaRPr>
          </a:p>
          <a:p>
            <a:pPr algn="l">
              <a:lnSpc>
                <a:spcPct val="150000"/>
              </a:lnSpc>
            </a:pPr>
            <a:r>
              <a:rPr kumimoji="1" lang="en-US" altLang="ko-KR" sz="1600" dirty="0">
                <a:latin typeface="Montserrat Medium" pitchFamily="2" charset="0"/>
              </a:rPr>
              <a:t>Dept. of Computer Engineering</a:t>
            </a:r>
          </a:p>
          <a:p>
            <a:pPr algn="l">
              <a:lnSpc>
                <a:spcPct val="100000"/>
              </a:lnSpc>
            </a:pPr>
            <a:r>
              <a:rPr kumimoji="1" lang="en-US" altLang="ko-KR" sz="1600" dirty="0">
                <a:latin typeface="Montserrat Medium" pitchFamily="2" charset="0"/>
              </a:rPr>
              <a:t>Hanbat National University, Korea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5F8FF-8C26-7059-5B08-551A0A382500}"/>
              </a:ext>
            </a:extLst>
          </p:cNvPr>
          <p:cNvSpPr txBox="1"/>
          <p:nvPr/>
        </p:nvSpPr>
        <p:spPr>
          <a:xfrm>
            <a:off x="838200" y="3917702"/>
            <a:ext cx="1367041" cy="4194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pc="-80">
                <a:latin typeface="Montserrat Medium" pitchFamily="2" charset="0"/>
              </a:rPr>
              <a:t>2025.06.02.</a:t>
            </a:r>
            <a:endParaRPr kumimoji="1" lang="ko-KR" altLang="en-US" spc="-80" dirty="0"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86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E6C6D9E-7B7B-452B-8F40-E7CA78D84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8" y="867585"/>
            <a:ext cx="6259339" cy="5662420"/>
          </a:xfrm>
        </p:spPr>
        <p:txBody>
          <a:bodyPr>
            <a:normAutofit/>
          </a:bodyPr>
          <a:lstStyle/>
          <a:p>
            <a:r>
              <a:rPr kumimoji="1"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서론</a:t>
            </a:r>
            <a:endParaRPr kumimoji="1"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kumimoji="1"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en-US" altLang="ko-KR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C89DFD4-16E7-0E9C-A5AA-BD82D7056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Outline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9664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68C257-0C9F-14DE-CF06-833CA60F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목표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850709-F63A-F626-CF32-1434C198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Chapter 1. </a:t>
            </a:r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D0AD-B575-DC53-2166-F0EC133E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3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210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640B6-E42E-4F29-D77F-161BE6B0C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AE4E0C-1B5C-D02B-3CAF-B4824A41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목표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F8ECB5-6ECE-B64D-9373-A369C3E74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 본 프로젝트는 응급 상황에서 신속하고 정확한 응급 처치를 지원하는 모바일 앱 개발을 목표로 한다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현대 사회에서 응급 상황이 발생했을 시 초기 대응이 생명을 좌우하는 만큼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현장에서 효과적인 응급 처치를 안내할 수 있는 시스템이 필요하다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</a:p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이에 본 앱은 사용자가 응급 상황에 맞는 정보를 입력하면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이를 바탕으로 적절한 응급 처치 방법을 실시간으로 제공한다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 본 프로젝트는 응급 구급대가 도착할 때까지 환자의 생명을 유지하는 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기반 모바일 앱을 개발하는 것을 목표로 한다</a:t>
            </a:r>
            <a:r>
              <a:rPr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kumimoji="1"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737FC9-835A-8D34-D415-6C3355B4C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474AB98-6F42-A817-8A35-74C92C70E04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1.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서론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3154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217378-7646-3577-FAA4-85598D4C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목표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A081A-6682-2512-85AE-F11FD5C4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 프로젝트에서 에이전트가 담당하는 주요 기능 </a:t>
            </a:r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 lvl="1">
              <a:buFontTx/>
              <a:buChar char="-"/>
            </a:pPr>
            <a:r>
              <a:rPr kumimoji="1"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사용자와 실시간 소통</a:t>
            </a:r>
            <a:endParaRPr kumimoji="1"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사용자 발화에서 증상 추출</a:t>
            </a:r>
            <a:endParaRPr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증상 기반 병명 후보 도출</a:t>
            </a:r>
            <a:endParaRPr kumimoji="1"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후속 질문으로 병명 확정 시도</a:t>
            </a:r>
            <a:endParaRPr kumimoji="1"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후 응급도에 따른 분기 처리</a:t>
            </a:r>
            <a:endParaRPr kumimoji="1"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77200" lvl="1" indent="0">
              <a:buNone/>
            </a:pPr>
            <a:endParaRPr kumimoji="1" lang="en-US" altLang="ko-KR" sz="200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C83DC1-0C1C-B5A0-F936-825B2F0A8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A8C0411-CD68-2CAF-2F01-8E4B1154618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1.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서론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522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68C257-0C9F-14DE-CF06-833CA60FC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시스템 아키텍쳐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시스템 흐름도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F850709-F63A-F626-CF32-1434C1980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Chapter </a:t>
            </a:r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78D0AD-B575-DC53-2166-F0EC133E2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6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37628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24330-7080-7503-577F-829BC626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A508D-76AB-A483-4BB2-0363D294C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7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809438-F74A-49B8-0E50-2C9F351B3BFF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0EA7F47-BB00-7F39-4AB8-F58B62A671A3}"/>
              </a:ext>
            </a:extLst>
          </p:cNvPr>
          <p:cNvGrpSpPr/>
          <p:nvPr/>
        </p:nvGrpSpPr>
        <p:grpSpPr>
          <a:xfrm>
            <a:off x="197862" y="3496410"/>
            <a:ext cx="732850" cy="1073318"/>
            <a:chOff x="1536470" y="1931691"/>
            <a:chExt cx="909814" cy="1228279"/>
          </a:xfrm>
        </p:grpSpPr>
        <p:pic>
          <p:nvPicPr>
            <p:cNvPr id="1026" name="Picture 2" descr="사용자 - 무료 사회적인개 아이콘">
              <a:extLst>
                <a:ext uri="{FF2B5EF4-FFF2-40B4-BE49-F238E27FC236}">
                  <a16:creationId xmlns:a16="http://schemas.microsoft.com/office/drawing/2014/main" id="{3A938E52-F522-15EB-3B0D-89F35DA374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36470" y="1931691"/>
              <a:ext cx="909814" cy="8484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A20EB40-05AA-633D-E15D-A6CE79193088}"/>
                </a:ext>
              </a:extLst>
            </p:cNvPr>
            <p:cNvSpPr txBox="1"/>
            <p:nvPr/>
          </p:nvSpPr>
          <p:spPr>
            <a:xfrm>
              <a:off x="1599898" y="2723593"/>
              <a:ext cx="721605" cy="436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User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67A90C42-0E36-AA09-3E2E-FAEE90752E73}"/>
              </a:ext>
            </a:extLst>
          </p:cNvPr>
          <p:cNvGrpSpPr/>
          <p:nvPr/>
        </p:nvGrpSpPr>
        <p:grpSpPr>
          <a:xfrm>
            <a:off x="3962087" y="3429000"/>
            <a:ext cx="942681" cy="1229785"/>
            <a:chOff x="1508189" y="4502078"/>
            <a:chExt cx="942681" cy="12297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3197F61-CFFD-4C9F-15E9-874BA8537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874" r="3282"/>
            <a:stretch/>
          </p:blipFill>
          <p:spPr>
            <a:xfrm>
              <a:off x="1508189" y="4502078"/>
              <a:ext cx="942681" cy="935635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4185061-689D-59AF-89C3-BB47AB548269}"/>
                </a:ext>
              </a:extLst>
            </p:cNvPr>
            <p:cNvSpPr txBox="1"/>
            <p:nvPr/>
          </p:nvSpPr>
          <p:spPr>
            <a:xfrm>
              <a:off x="1636326" y="5350540"/>
              <a:ext cx="686406" cy="381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Agent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045972B-6067-2E47-174A-ECE89FA59249}"/>
              </a:ext>
            </a:extLst>
          </p:cNvPr>
          <p:cNvCxnSpPr>
            <a:cxnSpLocks/>
          </p:cNvCxnSpPr>
          <p:nvPr/>
        </p:nvCxnSpPr>
        <p:spPr>
          <a:xfrm>
            <a:off x="910433" y="3958347"/>
            <a:ext cx="45645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0CC9EB40-62B0-9C79-C3C1-7C8ED1067B16}"/>
              </a:ext>
            </a:extLst>
          </p:cNvPr>
          <p:cNvGrpSpPr/>
          <p:nvPr/>
        </p:nvGrpSpPr>
        <p:grpSpPr>
          <a:xfrm>
            <a:off x="2475304" y="3477556"/>
            <a:ext cx="769644" cy="1122742"/>
            <a:chOff x="2677633" y="3496410"/>
            <a:chExt cx="955492" cy="1284839"/>
          </a:xfrm>
        </p:grpSpPr>
        <p:pic>
          <p:nvPicPr>
            <p:cNvPr id="1038" name="Picture 14" descr="네트워크 서버 - 무료 과학 기술개 아이콘">
              <a:extLst>
                <a:ext uri="{FF2B5EF4-FFF2-40B4-BE49-F238E27FC236}">
                  <a16:creationId xmlns:a16="http://schemas.microsoft.com/office/drawing/2014/main" id="{E4556DBE-C809-ECF6-67BA-121841880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3659" y="3496410"/>
              <a:ext cx="929466" cy="8709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61B08B3-47F6-893F-FAF0-214CC3E5D89B}"/>
                </a:ext>
              </a:extLst>
            </p:cNvPr>
            <p:cNvSpPr txBox="1"/>
            <p:nvPr/>
          </p:nvSpPr>
          <p:spPr>
            <a:xfrm>
              <a:off x="2677633" y="4344872"/>
              <a:ext cx="923002" cy="436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Server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EE93B63-8335-A5EA-D18F-C24FF882F9C2}"/>
              </a:ext>
            </a:extLst>
          </p:cNvPr>
          <p:cNvGrpSpPr/>
          <p:nvPr/>
        </p:nvGrpSpPr>
        <p:grpSpPr>
          <a:xfrm>
            <a:off x="1062105" y="2032112"/>
            <a:ext cx="1250323" cy="761569"/>
            <a:chOff x="2344149" y="1918989"/>
            <a:chExt cx="1552243" cy="871521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ABE407-8199-F1F4-29D1-57E6350C230E}"/>
                </a:ext>
              </a:extLst>
            </p:cNvPr>
            <p:cNvSpPr txBox="1"/>
            <p:nvPr/>
          </p:nvSpPr>
          <p:spPr>
            <a:xfrm>
              <a:off x="2811282" y="2354133"/>
              <a:ext cx="636829" cy="436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TTS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pic>
          <p:nvPicPr>
            <p:cNvPr id="1040" name="Picture 16" descr="무료 구글 TTS(Text-to-Speech) 설정하는 법">
              <a:extLst>
                <a:ext uri="{FF2B5EF4-FFF2-40B4-BE49-F238E27FC236}">
                  <a16:creationId xmlns:a16="http://schemas.microsoft.com/office/drawing/2014/main" id="{972A6FC1-A92D-84A1-CD57-F59B54643C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4149" y="1918989"/>
              <a:ext cx="1552243" cy="4814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9E31CF4-E3A0-0DB5-86CA-8F036319D684}"/>
              </a:ext>
            </a:extLst>
          </p:cNvPr>
          <p:cNvCxnSpPr>
            <a:cxnSpLocks/>
          </p:cNvCxnSpPr>
          <p:nvPr/>
        </p:nvCxnSpPr>
        <p:spPr>
          <a:xfrm flipV="1">
            <a:off x="1677969" y="2931736"/>
            <a:ext cx="7463" cy="3702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3E15F3B-EEAF-79EE-5AAF-04450EDAC18D}"/>
              </a:ext>
            </a:extLst>
          </p:cNvPr>
          <p:cNvGrpSpPr/>
          <p:nvPr/>
        </p:nvGrpSpPr>
        <p:grpSpPr>
          <a:xfrm>
            <a:off x="1193275" y="5178328"/>
            <a:ext cx="1012599" cy="711925"/>
            <a:chOff x="2568318" y="5451713"/>
            <a:chExt cx="1257115" cy="814710"/>
          </a:xfrm>
        </p:grpSpPr>
        <p:pic>
          <p:nvPicPr>
            <p:cNvPr id="1042" name="Picture 18" descr="CLOVA Speech Recognition (CSR) - NAVER Developers">
              <a:extLst>
                <a:ext uri="{FF2B5EF4-FFF2-40B4-BE49-F238E27FC236}">
                  <a16:creationId xmlns:a16="http://schemas.microsoft.com/office/drawing/2014/main" id="{3E80EC04-94C4-565C-4C46-0FD42610C7C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869" t="28663" r="18635" b="29358"/>
            <a:stretch/>
          </p:blipFill>
          <p:spPr bwMode="auto">
            <a:xfrm>
              <a:off x="2568318" y="5451713"/>
              <a:ext cx="1257115" cy="423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2D7615-737B-B731-7762-1E12FF70BE6F}"/>
                </a:ext>
              </a:extLst>
            </p:cNvPr>
            <p:cNvSpPr txBox="1"/>
            <p:nvPr/>
          </p:nvSpPr>
          <p:spPr>
            <a:xfrm>
              <a:off x="2838790" y="5830046"/>
              <a:ext cx="644788" cy="4363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STT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B023FA9F-63DB-3E6D-C9FA-32004BF66CF2}"/>
              </a:ext>
            </a:extLst>
          </p:cNvPr>
          <p:cNvCxnSpPr>
            <a:cxnSpLocks/>
          </p:cNvCxnSpPr>
          <p:nvPr/>
        </p:nvCxnSpPr>
        <p:spPr>
          <a:xfrm>
            <a:off x="3289954" y="3958347"/>
            <a:ext cx="54675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53ED09E-3F75-DCC7-BA88-4BBAA10A964C}"/>
              </a:ext>
            </a:extLst>
          </p:cNvPr>
          <p:cNvSpPr/>
          <p:nvPr/>
        </p:nvSpPr>
        <p:spPr>
          <a:xfrm>
            <a:off x="5111063" y="1360617"/>
            <a:ext cx="6949064" cy="4651283"/>
          </a:xfrm>
          <a:prstGeom prst="roundRect">
            <a:avLst>
              <a:gd name="adj" fmla="val 5093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70C6BDA-7FAB-5BE0-FA86-FA1CBD8EE9E6}"/>
              </a:ext>
            </a:extLst>
          </p:cNvPr>
          <p:cNvGrpSpPr/>
          <p:nvPr/>
        </p:nvGrpSpPr>
        <p:grpSpPr>
          <a:xfrm>
            <a:off x="1427004" y="3488172"/>
            <a:ext cx="538609" cy="1100410"/>
            <a:chOff x="1606117" y="3469318"/>
            <a:chExt cx="538609" cy="1100410"/>
          </a:xfrm>
        </p:grpSpPr>
        <p:pic>
          <p:nvPicPr>
            <p:cNvPr id="1044" name="Picture 20" descr="스마트 폰 - 무료 과학 기술개 아이콘">
              <a:extLst>
                <a:ext uri="{FF2B5EF4-FFF2-40B4-BE49-F238E27FC236}">
                  <a16:creationId xmlns:a16="http://schemas.microsoft.com/office/drawing/2014/main" id="{8706014E-B0F5-B22F-C038-ECB22B57638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03" t="1515" r="22620" b="365"/>
            <a:stretch/>
          </p:blipFill>
          <p:spPr bwMode="auto">
            <a:xfrm>
              <a:off x="1651337" y="3469318"/>
              <a:ext cx="433629" cy="7711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AFCEA2B-B3F3-1932-076F-3DBE6F3BCC91}"/>
                </a:ext>
              </a:extLst>
            </p:cNvPr>
            <p:cNvSpPr txBox="1"/>
            <p:nvPr/>
          </p:nvSpPr>
          <p:spPr>
            <a:xfrm>
              <a:off x="1606117" y="4188405"/>
              <a:ext cx="538609" cy="381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kumimoji="1" lang="en-US" altLang="ko-KR" sz="16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APP</a:t>
              </a:r>
              <a:endParaRPr kumimoji="1" lang="ko-KR" altLang="en-US" sz="16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0427663-9C83-90B9-29E8-BC704196E660}"/>
              </a:ext>
            </a:extLst>
          </p:cNvPr>
          <p:cNvCxnSpPr>
            <a:cxnSpLocks/>
          </p:cNvCxnSpPr>
          <p:nvPr/>
        </p:nvCxnSpPr>
        <p:spPr>
          <a:xfrm>
            <a:off x="1975040" y="3958347"/>
            <a:ext cx="456453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DF7952F-1D7E-3B34-8A5A-0C0E3E098B64}"/>
              </a:ext>
            </a:extLst>
          </p:cNvPr>
          <p:cNvCxnSpPr>
            <a:cxnSpLocks/>
          </p:cNvCxnSpPr>
          <p:nvPr/>
        </p:nvCxnSpPr>
        <p:spPr>
          <a:xfrm flipV="1">
            <a:off x="1677967" y="4640703"/>
            <a:ext cx="7463" cy="370203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324AFCF2-79CD-9B19-08E8-B67473613C1B}"/>
              </a:ext>
            </a:extLst>
          </p:cNvPr>
          <p:cNvSpPr/>
          <p:nvPr/>
        </p:nvSpPr>
        <p:spPr>
          <a:xfrm>
            <a:off x="5630184" y="1919064"/>
            <a:ext cx="1540806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Persona </a:t>
            </a:r>
            <a:r>
              <a:rPr lang="ko-KR" altLang="en-US" sz="1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7CB27AD-7CEE-39A3-C565-AB8A1680FB57}"/>
              </a:ext>
            </a:extLst>
          </p:cNvPr>
          <p:cNvSpPr/>
          <p:nvPr/>
        </p:nvSpPr>
        <p:spPr>
          <a:xfrm>
            <a:off x="5472354" y="2542076"/>
            <a:ext cx="1856466" cy="615906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발화 데이터 에서</a:t>
            </a:r>
          </a:p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환자 증상 추출</a:t>
            </a: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8D0ECAFE-2A0F-54BF-3F92-D9F3A217D453}"/>
              </a:ext>
            </a:extLst>
          </p:cNvPr>
          <p:cNvCxnSpPr>
            <a:cxnSpLocks/>
          </p:cNvCxnSpPr>
          <p:nvPr/>
        </p:nvCxnSpPr>
        <p:spPr>
          <a:xfrm flipH="1" flipV="1">
            <a:off x="4969660" y="3967777"/>
            <a:ext cx="127711" cy="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25BF032-B953-C827-38D8-40443E885DBD}"/>
              </a:ext>
            </a:extLst>
          </p:cNvPr>
          <p:cNvSpPr/>
          <p:nvPr/>
        </p:nvSpPr>
        <p:spPr>
          <a:xfrm>
            <a:off x="7849800" y="2644269"/>
            <a:ext cx="1606209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 도출</a:t>
            </a:r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8DEFDFF5-4C6D-91C4-2EE7-3807DBE3A7C0}"/>
              </a:ext>
            </a:extLst>
          </p:cNvPr>
          <p:cNvSpPr/>
          <p:nvPr/>
        </p:nvSpPr>
        <p:spPr>
          <a:xfrm>
            <a:off x="10091167" y="4694367"/>
            <a:ext cx="1606209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후속 질문 생성</a:t>
            </a:r>
          </a:p>
        </p:txBody>
      </p:sp>
      <p:sp>
        <p:nvSpPr>
          <p:cNvPr id="1037" name="사각형: 둥근 모서리 1036">
            <a:extLst>
              <a:ext uri="{FF2B5EF4-FFF2-40B4-BE49-F238E27FC236}">
                <a16:creationId xmlns:a16="http://schemas.microsoft.com/office/drawing/2014/main" id="{B5AA68A6-9598-0963-2E3A-3327065B8E55}"/>
              </a:ext>
            </a:extLst>
          </p:cNvPr>
          <p:cNvSpPr/>
          <p:nvPr/>
        </p:nvSpPr>
        <p:spPr>
          <a:xfrm>
            <a:off x="7766623" y="1917814"/>
            <a:ext cx="1772563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질병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증상 데이터</a:t>
            </a:r>
          </a:p>
        </p:txBody>
      </p:sp>
      <p:sp>
        <p:nvSpPr>
          <p:cNvPr id="1058" name="사각형: 둥근 모서리 1057">
            <a:extLst>
              <a:ext uri="{FF2B5EF4-FFF2-40B4-BE49-F238E27FC236}">
                <a16:creationId xmlns:a16="http://schemas.microsoft.com/office/drawing/2014/main" id="{3BA02F95-1BB7-9EA4-D74B-8DFD7CA66B68}"/>
              </a:ext>
            </a:extLst>
          </p:cNvPr>
          <p:cNvSpPr/>
          <p:nvPr/>
        </p:nvSpPr>
        <p:spPr>
          <a:xfrm>
            <a:off x="9987883" y="2644340"/>
            <a:ext cx="1809285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응답 분류</a:t>
            </a:r>
          </a:p>
        </p:txBody>
      </p:sp>
      <p:sp>
        <p:nvSpPr>
          <p:cNvPr id="1064" name="사각형: 둥근 모서리 1063">
            <a:extLst>
              <a:ext uri="{FF2B5EF4-FFF2-40B4-BE49-F238E27FC236}">
                <a16:creationId xmlns:a16="http://schemas.microsoft.com/office/drawing/2014/main" id="{EB6E6AE7-AEF2-4828-3575-E9AEBB3A04EC}"/>
              </a:ext>
            </a:extLst>
          </p:cNvPr>
          <p:cNvSpPr/>
          <p:nvPr/>
        </p:nvSpPr>
        <p:spPr>
          <a:xfrm>
            <a:off x="7826276" y="4694368"/>
            <a:ext cx="1675043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판단</a:t>
            </a:r>
          </a:p>
        </p:txBody>
      </p:sp>
      <p:sp>
        <p:nvSpPr>
          <p:cNvPr id="1065" name="사각형: 둥근 모서리 1064">
            <a:extLst>
              <a:ext uri="{FF2B5EF4-FFF2-40B4-BE49-F238E27FC236}">
                <a16:creationId xmlns:a16="http://schemas.microsoft.com/office/drawing/2014/main" id="{4CA1DE3F-83B5-3D4D-FDBF-9320BA9EC56C}"/>
              </a:ext>
            </a:extLst>
          </p:cNvPr>
          <p:cNvSpPr/>
          <p:nvPr/>
        </p:nvSpPr>
        <p:spPr>
          <a:xfrm>
            <a:off x="5483247" y="4694369"/>
            <a:ext cx="1809285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응급도 기반 분기</a:t>
            </a:r>
          </a:p>
        </p:txBody>
      </p:sp>
      <p:cxnSp>
        <p:nvCxnSpPr>
          <p:cNvPr id="1086" name="직선 화살표 연결선 1085">
            <a:extLst>
              <a:ext uri="{FF2B5EF4-FFF2-40B4-BE49-F238E27FC236}">
                <a16:creationId xmlns:a16="http://schemas.microsoft.com/office/drawing/2014/main" id="{A9CE0A28-6B29-658E-1CBB-A9C77858AAD6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>
            <a:off x="7328820" y="2850029"/>
            <a:ext cx="520980" cy="33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직선 화살표 연결선 1091">
            <a:extLst>
              <a:ext uri="{FF2B5EF4-FFF2-40B4-BE49-F238E27FC236}">
                <a16:creationId xmlns:a16="http://schemas.microsoft.com/office/drawing/2014/main" id="{03A31251-5FAE-3DAF-D357-3BB3413887C6}"/>
              </a:ext>
            </a:extLst>
          </p:cNvPr>
          <p:cNvCxnSpPr>
            <a:cxnSpLocks/>
            <a:stCxn id="1037" idx="2"/>
            <a:endCxn id="63" idx="0"/>
          </p:cNvCxnSpPr>
          <p:nvPr/>
        </p:nvCxnSpPr>
        <p:spPr>
          <a:xfrm>
            <a:off x="8652905" y="2335943"/>
            <a:ext cx="0" cy="3083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직선 화살표 연결선 1110">
            <a:extLst>
              <a:ext uri="{FF2B5EF4-FFF2-40B4-BE49-F238E27FC236}">
                <a16:creationId xmlns:a16="http://schemas.microsoft.com/office/drawing/2014/main" id="{86A2CC98-35DD-1863-9C6A-1F9FE4566270}"/>
              </a:ext>
            </a:extLst>
          </p:cNvPr>
          <p:cNvCxnSpPr>
            <a:cxnSpLocks/>
            <a:stCxn id="1065" idx="1"/>
          </p:cNvCxnSpPr>
          <p:nvPr/>
        </p:nvCxnSpPr>
        <p:spPr>
          <a:xfrm flipH="1" flipV="1">
            <a:off x="5111061" y="4903433"/>
            <a:ext cx="372186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직선 화살표 연결선 1113">
            <a:extLst>
              <a:ext uri="{FF2B5EF4-FFF2-40B4-BE49-F238E27FC236}">
                <a16:creationId xmlns:a16="http://schemas.microsoft.com/office/drawing/2014/main" id="{B0128BF3-7F6E-F9B3-76F5-D6B4507BBDDB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5131891" y="2850029"/>
            <a:ext cx="34046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직선 화살표 연결선 1117">
            <a:extLst>
              <a:ext uri="{FF2B5EF4-FFF2-40B4-BE49-F238E27FC236}">
                <a16:creationId xmlns:a16="http://schemas.microsoft.com/office/drawing/2014/main" id="{F2E91578-E764-178B-E6D7-B6E0DF8BBDA5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6400587" y="2337193"/>
            <a:ext cx="0" cy="204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6" name="직선 화살표 연결선 1145">
            <a:extLst>
              <a:ext uri="{FF2B5EF4-FFF2-40B4-BE49-F238E27FC236}">
                <a16:creationId xmlns:a16="http://schemas.microsoft.com/office/drawing/2014/main" id="{729ED4CC-503D-E892-7277-8ABB0D0019F2}"/>
              </a:ext>
            </a:extLst>
          </p:cNvPr>
          <p:cNvCxnSpPr>
            <a:cxnSpLocks/>
            <a:stCxn id="1064" idx="1"/>
            <a:endCxn id="1065" idx="3"/>
          </p:cNvCxnSpPr>
          <p:nvPr/>
        </p:nvCxnSpPr>
        <p:spPr>
          <a:xfrm flipH="1">
            <a:off x="7292532" y="4903433"/>
            <a:ext cx="53374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0" name="그룹 1159">
            <a:extLst>
              <a:ext uri="{FF2B5EF4-FFF2-40B4-BE49-F238E27FC236}">
                <a16:creationId xmlns:a16="http://schemas.microsoft.com/office/drawing/2014/main" id="{77B2B1A2-A8AA-8A10-1B3F-4AA7A9E37DC3}"/>
              </a:ext>
            </a:extLst>
          </p:cNvPr>
          <p:cNvGrpSpPr/>
          <p:nvPr/>
        </p:nvGrpSpPr>
        <p:grpSpPr>
          <a:xfrm>
            <a:off x="5297154" y="1426356"/>
            <a:ext cx="725465" cy="291042"/>
            <a:chOff x="5391610" y="6142640"/>
            <a:chExt cx="725465" cy="291042"/>
          </a:xfrm>
        </p:grpSpPr>
        <p:sp>
          <p:nvSpPr>
            <p:cNvPr id="1158" name="사각형: 둥근 모서리 1157">
              <a:extLst>
                <a:ext uri="{FF2B5EF4-FFF2-40B4-BE49-F238E27FC236}">
                  <a16:creationId xmlns:a16="http://schemas.microsoft.com/office/drawing/2014/main" id="{3A2D8C72-F9D5-4D1B-B7E6-5F8DFDE80D2F}"/>
                </a:ext>
              </a:extLst>
            </p:cNvPr>
            <p:cNvSpPr/>
            <p:nvPr/>
          </p:nvSpPr>
          <p:spPr>
            <a:xfrm>
              <a:off x="5391610" y="6180231"/>
              <a:ext cx="132685" cy="215861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159" name="TextBox 1158">
              <a:extLst>
                <a:ext uri="{FF2B5EF4-FFF2-40B4-BE49-F238E27FC236}">
                  <a16:creationId xmlns:a16="http://schemas.microsoft.com/office/drawing/2014/main" id="{10F7626C-4EAD-1362-9EC8-D3E3BF926817}"/>
                </a:ext>
              </a:extLst>
            </p:cNvPr>
            <p:cNvSpPr txBox="1"/>
            <p:nvPr/>
          </p:nvSpPr>
          <p:spPr>
            <a:xfrm>
              <a:off x="5483247" y="6142640"/>
              <a:ext cx="633828" cy="2910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kumimoji="1" lang="en-US" altLang="ko-KR" sz="1100" spc="-80">
                  <a:latin typeface="Noto Sans KR" panose="020B0200000000000000" pitchFamily="50" charset="-127"/>
                  <a:ea typeface="Noto Sans KR" panose="020B0200000000000000" pitchFamily="50" charset="-127"/>
                </a:rPr>
                <a:t>GPT API</a:t>
              </a:r>
              <a:endParaRPr kumimoji="1" lang="ko-KR" altLang="en-US" sz="1100" spc="-8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170" name="직선 화살표 연결선 1169">
            <a:extLst>
              <a:ext uri="{FF2B5EF4-FFF2-40B4-BE49-F238E27FC236}">
                <a16:creationId xmlns:a16="http://schemas.microsoft.com/office/drawing/2014/main" id="{9EAECD07-237B-479C-233E-C7168E0CFF47}"/>
              </a:ext>
            </a:extLst>
          </p:cNvPr>
          <p:cNvCxnSpPr>
            <a:cxnSpLocks/>
            <a:stCxn id="1064" idx="3"/>
            <a:endCxn id="1024" idx="1"/>
          </p:cNvCxnSpPr>
          <p:nvPr/>
        </p:nvCxnSpPr>
        <p:spPr>
          <a:xfrm flipV="1">
            <a:off x="9501319" y="4903432"/>
            <a:ext cx="589848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4" name="직선 화살표 연결선 1173">
            <a:extLst>
              <a:ext uri="{FF2B5EF4-FFF2-40B4-BE49-F238E27FC236}">
                <a16:creationId xmlns:a16="http://schemas.microsoft.com/office/drawing/2014/main" id="{5585E218-8A90-7CF2-94B1-5E7A3E4144B1}"/>
              </a:ext>
            </a:extLst>
          </p:cNvPr>
          <p:cNvCxnSpPr>
            <a:cxnSpLocks/>
            <a:stCxn id="63" idx="2"/>
            <a:endCxn id="1064" idx="0"/>
          </p:cNvCxnSpPr>
          <p:nvPr/>
        </p:nvCxnSpPr>
        <p:spPr>
          <a:xfrm>
            <a:off x="8652905" y="3062398"/>
            <a:ext cx="10893" cy="163197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7" name="직선 화살표 연결선 1176">
            <a:extLst>
              <a:ext uri="{FF2B5EF4-FFF2-40B4-BE49-F238E27FC236}">
                <a16:creationId xmlns:a16="http://schemas.microsoft.com/office/drawing/2014/main" id="{02B00184-8206-B13C-E69D-DEBFD9CEEBF4}"/>
              </a:ext>
            </a:extLst>
          </p:cNvPr>
          <p:cNvCxnSpPr>
            <a:cxnSpLocks/>
            <a:stCxn id="1058" idx="1"/>
            <a:endCxn id="63" idx="3"/>
          </p:cNvCxnSpPr>
          <p:nvPr/>
        </p:nvCxnSpPr>
        <p:spPr>
          <a:xfrm flipH="1" flipV="1">
            <a:off x="9456009" y="2853334"/>
            <a:ext cx="531874" cy="7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2" name="직선 화살표 연결선 1181">
            <a:extLst>
              <a:ext uri="{FF2B5EF4-FFF2-40B4-BE49-F238E27FC236}">
                <a16:creationId xmlns:a16="http://schemas.microsoft.com/office/drawing/2014/main" id="{B38D15E9-A61A-8DB4-013D-4FAB79E6054E}"/>
              </a:ext>
            </a:extLst>
          </p:cNvPr>
          <p:cNvCxnSpPr>
            <a:cxnSpLocks/>
            <a:stCxn id="1024" idx="0"/>
            <a:endCxn id="1058" idx="2"/>
          </p:cNvCxnSpPr>
          <p:nvPr/>
        </p:nvCxnSpPr>
        <p:spPr>
          <a:xfrm flipH="1" flipV="1">
            <a:off x="10892526" y="3062469"/>
            <a:ext cx="1746" cy="163189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8" name="제목 1">
            <a:extLst>
              <a:ext uri="{FF2B5EF4-FFF2-40B4-BE49-F238E27FC236}">
                <a16:creationId xmlns:a16="http://schemas.microsoft.com/office/drawing/2014/main" id="{386FB4B2-E654-8987-6DC0-79E9071D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5485"/>
            <a:ext cx="11277599" cy="481467"/>
          </a:xfrm>
        </p:spPr>
        <p:txBody>
          <a:bodyPr/>
          <a:lstStyle/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시스템 아키텍쳐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59721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46A45-C72E-CD43-3B08-D25C5A2E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1CFE57-592F-CAF7-ABAE-2A485F07FE82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153DC07-BC5F-A3F2-F7D9-D2FDF9976164}"/>
              </a:ext>
            </a:extLst>
          </p:cNvPr>
          <p:cNvSpPr/>
          <p:nvPr/>
        </p:nvSpPr>
        <p:spPr>
          <a:xfrm>
            <a:off x="1522249" y="1593172"/>
            <a:ext cx="1540806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Persona 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3CE86FA-4DB0-3196-9AEE-59911622285C}"/>
              </a:ext>
            </a:extLst>
          </p:cNvPr>
          <p:cNvSpPr/>
          <p:nvPr/>
        </p:nvSpPr>
        <p:spPr>
          <a:xfrm>
            <a:off x="1364419" y="2216184"/>
            <a:ext cx="1856466" cy="615906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발화 데이터 에서</a:t>
            </a:r>
          </a:p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환자 증상 추출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5D0BEAC-A9FA-01F9-0302-1C636D95E39A}"/>
              </a:ext>
            </a:extLst>
          </p:cNvPr>
          <p:cNvSpPr/>
          <p:nvPr/>
        </p:nvSpPr>
        <p:spPr>
          <a:xfrm>
            <a:off x="3603893" y="2315072"/>
            <a:ext cx="1606209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 도출</a:t>
            </a:r>
          </a:p>
        </p:txBody>
      </p:sp>
      <p:sp>
        <p:nvSpPr>
          <p:cNvPr id="1024" name="사각형: 둥근 모서리 1023">
            <a:extLst>
              <a:ext uri="{FF2B5EF4-FFF2-40B4-BE49-F238E27FC236}">
                <a16:creationId xmlns:a16="http://schemas.microsoft.com/office/drawing/2014/main" id="{7F69E8DF-0B03-7F4D-2A6B-AB4EEF6EDA2A}"/>
              </a:ext>
            </a:extLst>
          </p:cNvPr>
          <p:cNvSpPr/>
          <p:nvPr/>
        </p:nvSpPr>
        <p:spPr>
          <a:xfrm>
            <a:off x="9194076" y="4681294"/>
            <a:ext cx="1606209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후속 질문 생성</a:t>
            </a:r>
          </a:p>
        </p:txBody>
      </p:sp>
      <p:sp>
        <p:nvSpPr>
          <p:cNvPr id="1037" name="사각형: 둥근 모서리 1036">
            <a:extLst>
              <a:ext uri="{FF2B5EF4-FFF2-40B4-BE49-F238E27FC236}">
                <a16:creationId xmlns:a16="http://schemas.microsoft.com/office/drawing/2014/main" id="{5D59B872-3214-EA95-0EDD-6FD6E4EF5945}"/>
              </a:ext>
            </a:extLst>
          </p:cNvPr>
          <p:cNvSpPr/>
          <p:nvPr/>
        </p:nvSpPr>
        <p:spPr>
          <a:xfrm>
            <a:off x="3520716" y="1588617"/>
            <a:ext cx="1772563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질병</a:t>
            </a:r>
            <a:r>
              <a:rPr lang="en-US" altLang="ko-KR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증상 데이터</a:t>
            </a:r>
          </a:p>
        </p:txBody>
      </p:sp>
      <p:sp>
        <p:nvSpPr>
          <p:cNvPr id="1058" name="사각형: 둥근 모서리 1057">
            <a:extLst>
              <a:ext uri="{FF2B5EF4-FFF2-40B4-BE49-F238E27FC236}">
                <a16:creationId xmlns:a16="http://schemas.microsoft.com/office/drawing/2014/main" id="{6F9F08AD-FF9C-3B10-62D2-FCF4D7821D31}"/>
              </a:ext>
            </a:extLst>
          </p:cNvPr>
          <p:cNvSpPr/>
          <p:nvPr/>
        </p:nvSpPr>
        <p:spPr>
          <a:xfrm>
            <a:off x="9092538" y="2314416"/>
            <a:ext cx="1809285" cy="418129"/>
          </a:xfrm>
          <a:prstGeom prst="roundRect">
            <a:avLst>
              <a:gd name="adj" fmla="val 36958"/>
            </a:avLst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응답 분류</a:t>
            </a:r>
          </a:p>
        </p:txBody>
      </p:sp>
      <p:sp>
        <p:nvSpPr>
          <p:cNvPr id="1065" name="사각형: 둥근 모서리 1064">
            <a:extLst>
              <a:ext uri="{FF2B5EF4-FFF2-40B4-BE49-F238E27FC236}">
                <a16:creationId xmlns:a16="http://schemas.microsoft.com/office/drawing/2014/main" id="{3C45C6E7-E090-D0F8-E671-66FE4DA90D6F}"/>
              </a:ext>
            </a:extLst>
          </p:cNvPr>
          <p:cNvSpPr/>
          <p:nvPr/>
        </p:nvSpPr>
        <p:spPr>
          <a:xfrm>
            <a:off x="1193922" y="4687927"/>
            <a:ext cx="1809285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응급도 기반 분기</a:t>
            </a:r>
          </a:p>
        </p:txBody>
      </p:sp>
      <p:cxnSp>
        <p:nvCxnSpPr>
          <p:cNvPr id="1086" name="직선 화살표 연결선 1085">
            <a:extLst>
              <a:ext uri="{FF2B5EF4-FFF2-40B4-BE49-F238E27FC236}">
                <a16:creationId xmlns:a16="http://schemas.microsoft.com/office/drawing/2014/main" id="{EC8AB385-EF58-82C6-64C1-17AA4CD63BFA}"/>
              </a:ext>
            </a:extLst>
          </p:cNvPr>
          <p:cNvCxnSpPr>
            <a:cxnSpLocks/>
            <a:stCxn id="55" idx="3"/>
            <a:endCxn id="63" idx="1"/>
          </p:cNvCxnSpPr>
          <p:nvPr/>
        </p:nvCxnSpPr>
        <p:spPr>
          <a:xfrm>
            <a:off x="3220885" y="2524137"/>
            <a:ext cx="38300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직선 화살표 연결선 1091">
            <a:extLst>
              <a:ext uri="{FF2B5EF4-FFF2-40B4-BE49-F238E27FC236}">
                <a16:creationId xmlns:a16="http://schemas.microsoft.com/office/drawing/2014/main" id="{8FED7709-55D7-EBAF-E357-8AD914938D39}"/>
              </a:ext>
            </a:extLst>
          </p:cNvPr>
          <p:cNvCxnSpPr>
            <a:cxnSpLocks/>
            <a:stCxn id="1037" idx="2"/>
            <a:endCxn id="63" idx="0"/>
          </p:cNvCxnSpPr>
          <p:nvPr/>
        </p:nvCxnSpPr>
        <p:spPr>
          <a:xfrm>
            <a:off x="4406998" y="2006746"/>
            <a:ext cx="0" cy="3083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3" name="직선 화살표 연결선 1102">
            <a:extLst>
              <a:ext uri="{FF2B5EF4-FFF2-40B4-BE49-F238E27FC236}">
                <a16:creationId xmlns:a16="http://schemas.microsoft.com/office/drawing/2014/main" id="{13648E93-4A8D-7F63-B00E-CA5A335ED29A}"/>
              </a:ext>
            </a:extLst>
          </p:cNvPr>
          <p:cNvCxnSpPr>
            <a:cxnSpLocks/>
            <a:stCxn id="36" idx="1"/>
            <a:endCxn id="1065" idx="3"/>
          </p:cNvCxnSpPr>
          <p:nvPr/>
        </p:nvCxnSpPr>
        <p:spPr>
          <a:xfrm flipH="1">
            <a:off x="3003207" y="4893976"/>
            <a:ext cx="969888" cy="30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1" name="직선 화살표 연결선 1110">
            <a:extLst>
              <a:ext uri="{FF2B5EF4-FFF2-40B4-BE49-F238E27FC236}">
                <a16:creationId xmlns:a16="http://schemas.microsoft.com/office/drawing/2014/main" id="{EDF01FDD-4638-911D-2CC1-77A74EFAED04}"/>
              </a:ext>
            </a:extLst>
          </p:cNvPr>
          <p:cNvCxnSpPr>
            <a:cxnSpLocks/>
            <a:stCxn id="1065" idx="1"/>
          </p:cNvCxnSpPr>
          <p:nvPr/>
        </p:nvCxnSpPr>
        <p:spPr>
          <a:xfrm flipH="1" flipV="1">
            <a:off x="695371" y="4896991"/>
            <a:ext cx="498551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4" name="직선 화살표 연결선 1113">
            <a:extLst>
              <a:ext uri="{FF2B5EF4-FFF2-40B4-BE49-F238E27FC236}">
                <a16:creationId xmlns:a16="http://schemas.microsoft.com/office/drawing/2014/main" id="{B3AF27F6-740C-984E-C4EA-E1A4E7F5ED41}"/>
              </a:ext>
            </a:extLst>
          </p:cNvPr>
          <p:cNvCxnSpPr>
            <a:cxnSpLocks/>
            <a:endCxn id="55" idx="1"/>
          </p:cNvCxnSpPr>
          <p:nvPr/>
        </p:nvCxnSpPr>
        <p:spPr>
          <a:xfrm>
            <a:off x="741670" y="2524136"/>
            <a:ext cx="62274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8" name="직선 화살표 연결선 1117">
            <a:extLst>
              <a:ext uri="{FF2B5EF4-FFF2-40B4-BE49-F238E27FC236}">
                <a16:creationId xmlns:a16="http://schemas.microsoft.com/office/drawing/2014/main" id="{AD559262-2099-7242-5941-71C4765221C3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>
            <a:off x="2292652" y="2011301"/>
            <a:ext cx="0" cy="20488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순서도: 판단 35">
            <a:extLst>
              <a:ext uri="{FF2B5EF4-FFF2-40B4-BE49-F238E27FC236}">
                <a16:creationId xmlns:a16="http://schemas.microsoft.com/office/drawing/2014/main" id="{74039817-3266-564F-6022-ECBDEBCEA9C7}"/>
              </a:ext>
            </a:extLst>
          </p:cNvPr>
          <p:cNvSpPr/>
          <p:nvPr/>
        </p:nvSpPr>
        <p:spPr>
          <a:xfrm>
            <a:off x="3973095" y="4610040"/>
            <a:ext cx="867803" cy="567872"/>
          </a:xfrm>
          <a:prstGeom prst="flowChartDecision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4B915728-804B-C6C4-5ACF-777BFDD69740}"/>
              </a:ext>
            </a:extLst>
          </p:cNvPr>
          <p:cNvCxnSpPr>
            <a:cxnSpLocks/>
            <a:stCxn id="36" idx="3"/>
            <a:endCxn id="1113" idx="1"/>
          </p:cNvCxnSpPr>
          <p:nvPr/>
        </p:nvCxnSpPr>
        <p:spPr>
          <a:xfrm flipV="1">
            <a:off x="4840898" y="4891824"/>
            <a:ext cx="1382579" cy="215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5" name="TextBox 1044">
            <a:extLst>
              <a:ext uri="{FF2B5EF4-FFF2-40B4-BE49-F238E27FC236}">
                <a16:creationId xmlns:a16="http://schemas.microsoft.com/office/drawing/2014/main" id="{5BF047C0-990C-BC41-429A-B7B7219BA1A1}"/>
              </a:ext>
            </a:extLst>
          </p:cNvPr>
          <p:cNvSpPr txBox="1"/>
          <p:nvPr/>
        </p:nvSpPr>
        <p:spPr>
          <a:xfrm>
            <a:off x="4817495" y="4594275"/>
            <a:ext cx="1233030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병명후보 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개 이상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1" name="TextBox 1070">
            <a:extLst>
              <a:ext uri="{FF2B5EF4-FFF2-40B4-BE49-F238E27FC236}">
                <a16:creationId xmlns:a16="http://schemas.microsoft.com/office/drawing/2014/main" id="{8C6AEEF2-40CF-7202-BEA6-76BA34996771}"/>
              </a:ext>
            </a:extLst>
          </p:cNvPr>
          <p:cNvSpPr txBox="1"/>
          <p:nvPr/>
        </p:nvSpPr>
        <p:spPr>
          <a:xfrm>
            <a:off x="3025591" y="4579924"/>
            <a:ext cx="971420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 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개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2" name="사각형: 둥근 모서리 1071">
            <a:extLst>
              <a:ext uri="{FF2B5EF4-FFF2-40B4-BE49-F238E27FC236}">
                <a16:creationId xmlns:a16="http://schemas.microsoft.com/office/drawing/2014/main" id="{9010F456-D5D4-95D0-0349-701D4DD1E335}"/>
              </a:ext>
            </a:extLst>
          </p:cNvPr>
          <p:cNvSpPr/>
          <p:nvPr/>
        </p:nvSpPr>
        <p:spPr>
          <a:xfrm>
            <a:off x="9318212" y="1569114"/>
            <a:ext cx="1357935" cy="418129"/>
          </a:xfrm>
          <a:prstGeom prst="roundRect">
            <a:avLst>
              <a:gd name="adj" fmla="val 3695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사용자 응답</a:t>
            </a:r>
          </a:p>
        </p:txBody>
      </p:sp>
      <p:sp>
        <p:nvSpPr>
          <p:cNvPr id="1082" name="TextBox 1081">
            <a:extLst>
              <a:ext uri="{FF2B5EF4-FFF2-40B4-BE49-F238E27FC236}">
                <a16:creationId xmlns:a16="http://schemas.microsoft.com/office/drawing/2014/main" id="{037CB293-F03E-5DED-81CD-DBE1BF1474C7}"/>
              </a:ext>
            </a:extLst>
          </p:cNvPr>
          <p:cNvSpPr txBox="1"/>
          <p:nvPr/>
        </p:nvSpPr>
        <p:spPr>
          <a:xfrm>
            <a:off x="10016354" y="4333084"/>
            <a:ext cx="882293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질문횟수 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+1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13" name="순서도: 판단 1112">
            <a:extLst>
              <a:ext uri="{FF2B5EF4-FFF2-40B4-BE49-F238E27FC236}">
                <a16:creationId xmlns:a16="http://schemas.microsoft.com/office/drawing/2014/main" id="{9F4682F2-ED29-19EE-D473-77F5D4121CDB}"/>
              </a:ext>
            </a:extLst>
          </p:cNvPr>
          <p:cNvSpPr/>
          <p:nvPr/>
        </p:nvSpPr>
        <p:spPr>
          <a:xfrm>
            <a:off x="6223477" y="4607888"/>
            <a:ext cx="867803" cy="567872"/>
          </a:xfrm>
          <a:prstGeom prst="flowChartDecision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116" name="직선 화살표 연결선 1115">
            <a:extLst>
              <a:ext uri="{FF2B5EF4-FFF2-40B4-BE49-F238E27FC236}">
                <a16:creationId xmlns:a16="http://schemas.microsoft.com/office/drawing/2014/main" id="{6C9D9F7E-96F1-FA43-B945-56357FFB6DF3}"/>
              </a:ext>
            </a:extLst>
          </p:cNvPr>
          <p:cNvCxnSpPr>
            <a:cxnSpLocks/>
            <a:stCxn id="1113" idx="3"/>
            <a:endCxn id="1024" idx="1"/>
          </p:cNvCxnSpPr>
          <p:nvPr/>
        </p:nvCxnSpPr>
        <p:spPr>
          <a:xfrm flipV="1">
            <a:off x="7091280" y="4890359"/>
            <a:ext cx="2102796" cy="14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4" name="TextBox 1123">
            <a:extLst>
              <a:ext uri="{FF2B5EF4-FFF2-40B4-BE49-F238E27FC236}">
                <a16:creationId xmlns:a16="http://schemas.microsoft.com/office/drawing/2014/main" id="{BB995661-151D-CE59-3689-B3E12BD69B5D}"/>
              </a:ext>
            </a:extLst>
          </p:cNvPr>
          <p:cNvSpPr txBox="1"/>
          <p:nvPr/>
        </p:nvSpPr>
        <p:spPr>
          <a:xfrm>
            <a:off x="6657378" y="5259602"/>
            <a:ext cx="1080104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질문횟수 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= = 10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5" name="TextBox 1124">
            <a:extLst>
              <a:ext uri="{FF2B5EF4-FFF2-40B4-BE49-F238E27FC236}">
                <a16:creationId xmlns:a16="http://schemas.microsoft.com/office/drawing/2014/main" id="{0C3382F7-B134-FA11-D7CB-560D80A3F782}"/>
              </a:ext>
            </a:extLst>
          </p:cNvPr>
          <p:cNvSpPr txBox="1"/>
          <p:nvPr/>
        </p:nvSpPr>
        <p:spPr>
          <a:xfrm>
            <a:off x="6676551" y="4178522"/>
            <a:ext cx="1080104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질문횟수 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= = 15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6" name="순서도: 판단 1125">
            <a:extLst>
              <a:ext uri="{FF2B5EF4-FFF2-40B4-BE49-F238E27FC236}">
                <a16:creationId xmlns:a16="http://schemas.microsoft.com/office/drawing/2014/main" id="{4ACC18EB-B118-E4DF-AFF7-E4306D0914C8}"/>
              </a:ext>
            </a:extLst>
          </p:cNvPr>
          <p:cNvSpPr/>
          <p:nvPr/>
        </p:nvSpPr>
        <p:spPr>
          <a:xfrm>
            <a:off x="1862802" y="3483332"/>
            <a:ext cx="867803" cy="567872"/>
          </a:xfrm>
          <a:prstGeom prst="flowChartDecision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27" name="순서도: 판단 1126">
            <a:extLst>
              <a:ext uri="{FF2B5EF4-FFF2-40B4-BE49-F238E27FC236}">
                <a16:creationId xmlns:a16="http://schemas.microsoft.com/office/drawing/2014/main" id="{4C272137-F240-D37E-FBD2-F5EF93B5CCA0}"/>
              </a:ext>
            </a:extLst>
          </p:cNvPr>
          <p:cNvSpPr/>
          <p:nvPr/>
        </p:nvSpPr>
        <p:spPr>
          <a:xfrm>
            <a:off x="6223477" y="5769853"/>
            <a:ext cx="867803" cy="567872"/>
          </a:xfrm>
          <a:prstGeom prst="flowChartDecision">
            <a:avLst/>
          </a:prstGeom>
          <a:solidFill>
            <a:srgbClr val="FFC000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E730246E-5018-551D-DDA2-000217B259B1}"/>
              </a:ext>
            </a:extLst>
          </p:cNvPr>
          <p:cNvSpPr txBox="1"/>
          <p:nvPr/>
        </p:nvSpPr>
        <p:spPr>
          <a:xfrm>
            <a:off x="7023920" y="5707252"/>
            <a:ext cx="1002519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질문계속 진행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9" name="TextBox 1148">
            <a:extLst>
              <a:ext uri="{FF2B5EF4-FFF2-40B4-BE49-F238E27FC236}">
                <a16:creationId xmlns:a16="http://schemas.microsoft.com/office/drawing/2014/main" id="{8164BF36-D272-D822-3ABC-A49ACBB2658A}"/>
              </a:ext>
            </a:extLst>
          </p:cNvPr>
          <p:cNvSpPr txBox="1"/>
          <p:nvPr/>
        </p:nvSpPr>
        <p:spPr>
          <a:xfrm>
            <a:off x="2312217" y="3183632"/>
            <a:ext cx="577081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재시작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3" name="TextBox 1152">
            <a:extLst>
              <a:ext uri="{FF2B5EF4-FFF2-40B4-BE49-F238E27FC236}">
                <a16:creationId xmlns:a16="http://schemas.microsoft.com/office/drawing/2014/main" id="{DFF1E058-D48F-F5D4-EB2B-F7BB6AAC4742}"/>
              </a:ext>
            </a:extLst>
          </p:cNvPr>
          <p:cNvSpPr txBox="1"/>
          <p:nvPr/>
        </p:nvSpPr>
        <p:spPr>
          <a:xfrm>
            <a:off x="5158761" y="5739737"/>
            <a:ext cx="990015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전화 연결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5" name="TextBox 1164">
            <a:extLst>
              <a:ext uri="{FF2B5EF4-FFF2-40B4-BE49-F238E27FC236}">
                <a16:creationId xmlns:a16="http://schemas.microsoft.com/office/drawing/2014/main" id="{72C70DBD-E9E0-4283-A609-B85530F9578A}"/>
              </a:ext>
            </a:extLst>
          </p:cNvPr>
          <p:cNvSpPr txBox="1"/>
          <p:nvPr/>
        </p:nvSpPr>
        <p:spPr>
          <a:xfrm>
            <a:off x="6709881" y="2168588"/>
            <a:ext cx="1347164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아니요</a:t>
            </a: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모르겠음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67" name="사각형: 둥근 모서리 1166">
            <a:extLst>
              <a:ext uri="{FF2B5EF4-FFF2-40B4-BE49-F238E27FC236}">
                <a16:creationId xmlns:a16="http://schemas.microsoft.com/office/drawing/2014/main" id="{5691CF59-544B-4C81-2C42-608FB19C7725}"/>
              </a:ext>
            </a:extLst>
          </p:cNvPr>
          <p:cNvSpPr/>
          <p:nvPr/>
        </p:nvSpPr>
        <p:spPr>
          <a:xfrm>
            <a:off x="734332" y="1299473"/>
            <a:ext cx="10620434" cy="5204062"/>
          </a:xfrm>
          <a:prstGeom prst="roundRect">
            <a:avLst>
              <a:gd name="adj" fmla="val 712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7EE5F72-4C21-C1A0-871B-633B4335E3F2}"/>
              </a:ext>
            </a:extLst>
          </p:cNvPr>
          <p:cNvCxnSpPr>
            <a:cxnSpLocks/>
            <a:stCxn id="1113" idx="2"/>
            <a:endCxn id="1127" idx="0"/>
          </p:cNvCxnSpPr>
          <p:nvPr/>
        </p:nvCxnSpPr>
        <p:spPr>
          <a:xfrm>
            <a:off x="6657379" y="5175760"/>
            <a:ext cx="0" cy="5940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AEC9E25F-DCE0-03CC-B249-C521E8DDA650}"/>
              </a:ext>
            </a:extLst>
          </p:cNvPr>
          <p:cNvCxnSpPr>
            <a:cxnSpLocks/>
            <a:stCxn id="1127" idx="3"/>
            <a:endCxn id="1024" idx="2"/>
          </p:cNvCxnSpPr>
          <p:nvPr/>
        </p:nvCxnSpPr>
        <p:spPr>
          <a:xfrm flipV="1">
            <a:off x="7091280" y="5099423"/>
            <a:ext cx="2905901" cy="95436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81104FED-447C-3E84-6A08-6A37189F87C6}"/>
              </a:ext>
            </a:extLst>
          </p:cNvPr>
          <p:cNvCxnSpPr>
            <a:cxnSpLocks/>
            <a:stCxn id="1024" idx="0"/>
            <a:endCxn id="1058" idx="2"/>
          </p:cNvCxnSpPr>
          <p:nvPr/>
        </p:nvCxnSpPr>
        <p:spPr>
          <a:xfrm flipV="1">
            <a:off x="9997181" y="2732545"/>
            <a:ext cx="0" cy="19487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C3C43F7-A19D-6F20-173A-C2768F29B7A6}"/>
              </a:ext>
            </a:extLst>
          </p:cNvPr>
          <p:cNvCxnSpPr>
            <a:cxnSpLocks/>
            <a:stCxn id="1127" idx="1"/>
          </p:cNvCxnSpPr>
          <p:nvPr/>
        </p:nvCxnSpPr>
        <p:spPr>
          <a:xfrm flipH="1">
            <a:off x="741670" y="6053789"/>
            <a:ext cx="548180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617C1C83-1BDC-CAD0-1C51-7ECF02458A17}"/>
              </a:ext>
            </a:extLst>
          </p:cNvPr>
          <p:cNvCxnSpPr>
            <a:cxnSpLocks/>
            <a:stCxn id="1113" idx="0"/>
            <a:endCxn id="1126" idx="3"/>
          </p:cNvCxnSpPr>
          <p:nvPr/>
        </p:nvCxnSpPr>
        <p:spPr>
          <a:xfrm rot="16200000" flipV="1">
            <a:off x="4273682" y="2224191"/>
            <a:ext cx="840620" cy="3926774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3A88CF96-B6B4-5150-8B8E-ACDC195AF6BC}"/>
              </a:ext>
            </a:extLst>
          </p:cNvPr>
          <p:cNvCxnSpPr>
            <a:cxnSpLocks/>
            <a:stCxn id="1126" idx="1"/>
          </p:cNvCxnSpPr>
          <p:nvPr/>
        </p:nvCxnSpPr>
        <p:spPr>
          <a:xfrm flipH="1">
            <a:off x="741670" y="3767268"/>
            <a:ext cx="112113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3B21BA72-6E5B-66ED-8FE1-FD59B4AC35B9}"/>
              </a:ext>
            </a:extLst>
          </p:cNvPr>
          <p:cNvSpPr txBox="1"/>
          <p:nvPr/>
        </p:nvSpPr>
        <p:spPr>
          <a:xfrm>
            <a:off x="921440" y="3424191"/>
            <a:ext cx="990015" cy="309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en-US" altLang="ko-KR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kumimoji="1" lang="ko-KR" altLang="en-US" sz="1200" spc="-80">
                <a:latin typeface="Noto Sans KR" panose="020B0200000000000000" pitchFamily="50" charset="-127"/>
                <a:ea typeface="Noto Sans KR" panose="020B0200000000000000" pitchFamily="50" charset="-127"/>
              </a:rPr>
              <a:t>전화 연결</a:t>
            </a:r>
            <a:endParaRPr kumimoji="1" lang="ko-KR" altLang="en-US" sz="1200" spc="-8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9C40228-FD1E-F5DF-5D0B-05703DEF7EC7}"/>
              </a:ext>
            </a:extLst>
          </p:cNvPr>
          <p:cNvCxnSpPr>
            <a:cxnSpLocks/>
            <a:stCxn id="1126" idx="0"/>
            <a:endCxn id="55" idx="2"/>
          </p:cNvCxnSpPr>
          <p:nvPr/>
        </p:nvCxnSpPr>
        <p:spPr>
          <a:xfrm flipH="1" flipV="1">
            <a:off x="2292652" y="2832090"/>
            <a:ext cx="4052" cy="651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직선 화살표 연결선 1028">
            <a:extLst>
              <a:ext uri="{FF2B5EF4-FFF2-40B4-BE49-F238E27FC236}">
                <a16:creationId xmlns:a16="http://schemas.microsoft.com/office/drawing/2014/main" id="{69A31BB1-320B-F4BB-0FF3-5DCB141ABAFB}"/>
              </a:ext>
            </a:extLst>
          </p:cNvPr>
          <p:cNvCxnSpPr>
            <a:cxnSpLocks/>
            <a:stCxn id="1058" idx="1"/>
            <a:endCxn id="63" idx="3"/>
          </p:cNvCxnSpPr>
          <p:nvPr/>
        </p:nvCxnSpPr>
        <p:spPr>
          <a:xfrm flipH="1">
            <a:off x="5210102" y="2523481"/>
            <a:ext cx="3882436" cy="65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9" name="직선 화살표 연결선 1038">
            <a:extLst>
              <a:ext uri="{FF2B5EF4-FFF2-40B4-BE49-F238E27FC236}">
                <a16:creationId xmlns:a16="http://schemas.microsoft.com/office/drawing/2014/main" id="{AF5F1792-CF21-4EAF-4C22-06B0F9AE57FF}"/>
              </a:ext>
            </a:extLst>
          </p:cNvPr>
          <p:cNvCxnSpPr>
            <a:cxnSpLocks/>
            <a:stCxn id="1072" idx="2"/>
            <a:endCxn id="1058" idx="0"/>
          </p:cNvCxnSpPr>
          <p:nvPr/>
        </p:nvCxnSpPr>
        <p:spPr>
          <a:xfrm>
            <a:off x="9997180" y="1987243"/>
            <a:ext cx="1" cy="3271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2" name="슬라이드 번호 개체 틀 3">
            <a:extLst>
              <a:ext uri="{FF2B5EF4-FFF2-40B4-BE49-F238E27FC236}">
                <a16:creationId xmlns:a16="http://schemas.microsoft.com/office/drawing/2014/main" id="{4CD4708B-2814-A93C-22F8-0B88EAB07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1596" y="6606377"/>
            <a:ext cx="2743200" cy="171589"/>
          </a:xfrm>
        </p:spPr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8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43" name="직선 화살표 연결선 1042">
            <a:extLst>
              <a:ext uri="{FF2B5EF4-FFF2-40B4-BE49-F238E27FC236}">
                <a16:creationId xmlns:a16="http://schemas.microsoft.com/office/drawing/2014/main" id="{617B684C-DE21-AE25-938D-66BEF9372A27}"/>
              </a:ext>
            </a:extLst>
          </p:cNvPr>
          <p:cNvCxnSpPr>
            <a:cxnSpLocks/>
            <a:stCxn id="63" idx="2"/>
            <a:endCxn id="36" idx="0"/>
          </p:cNvCxnSpPr>
          <p:nvPr/>
        </p:nvCxnSpPr>
        <p:spPr>
          <a:xfrm flipH="1">
            <a:off x="4406997" y="2733201"/>
            <a:ext cx="1" cy="187683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제목 1">
            <a:extLst>
              <a:ext uri="{FF2B5EF4-FFF2-40B4-BE49-F238E27FC236}">
                <a16:creationId xmlns:a16="http://schemas.microsoft.com/office/drawing/2014/main" id="{97C52C74-D1B6-AD7E-6197-A3EBA2592E9E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시스템 흐름도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582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58D4-D138-CDFD-95DC-DE941F27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EF78E1-8172-79B9-7988-7923AE3BFD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180DF71A-A7E3-D745-635C-458AAE04663D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528F62A-D1AB-3A11-2627-9F9FB046D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>
            <a:normAutofit/>
          </a:bodyPr>
          <a:lstStyle/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발화 데이터</a:t>
            </a:r>
            <a:endParaRPr kumimoji="1"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사용자와 에이전트의 대화 데이터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대화 시작 시 에이전트가 환자의 증상을 질문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사용자의 발화는 어플 내에서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STT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텍스트로 변환 후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백엔드를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거쳐 에이전트로 전달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에이전트의 텍스트는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백엔드를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거쳐 어플로 이동하여 어플 내에서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TTS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통해 보이스로 변환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발화 데이터는 히스토리 시스템에 저장되며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이를 분석하여 병명 분류 등 작업에 사용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37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E227-14A2-1DC4-538E-F218C1CDC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26E4A26-A977-6D97-4EF0-98EC0A20B63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9A8E0BB8-154D-016C-507A-674C65D9776D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6082069-C9C4-6C93-B348-E0D4F5F60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 선정 방법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>
                <a:latin typeface="Noto Sans KR" panose="020B0200000000000000" pitchFamily="50" charset="-127"/>
                <a:ea typeface="Noto Sans KR" panose="020B0200000000000000" pitchFamily="50" charset="-127"/>
              </a:rPr>
              <a:t>실시간 대화를 통해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증상들을 파악하여 해당 증상들을 가진 질병 명 파악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질병 명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증상이 매핑 된 </a:t>
            </a:r>
            <a:r>
              <a:rPr kumimoji="1" lang="af-ZA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full_disease_symptom_data.</a:t>
            </a:r>
            <a:r>
              <a:rPr kumimoji="1" lang="en-US" altLang="ko-KR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json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을 참고하여 후보 선정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Mayo Clinic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First Aid </a:t>
            </a: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데이터</a:t>
            </a:r>
            <a:endParaRPr kumimoji="1" lang="en-US" altLang="ko-KR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kumimoji="1"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kumimoji="1" lang="en-US" altLang="ko-KR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C37312-1EC1-F500-28BF-4AEE4C2C4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7148" y="3140657"/>
            <a:ext cx="5758380" cy="338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173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9036-E04E-51FF-FE13-6103C242D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CA3E764-6536-9FED-44C3-4EE8DA87E78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6BAB24C7-698D-AA6C-1BEE-5B4380548C5C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235E716-CD9F-733D-2A20-1E1B971B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후속 질문 생성 규칙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후보들의 증상을 기반으로 질문 생성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반드시 한가지 증상만 묻기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존재 여부를 묻는 질문일 것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가슴 통증이 있나요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? O,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가슴 통증이 없나요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? X)</a:t>
            </a: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이미 확인된 환자의 증상은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재질문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하지 않음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질문에 대한 대답으로는 예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아니요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모르겠음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가지로 판별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예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아니요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모르겠음 구별 실패 시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재응답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요구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모르겠다고 대답한 증상 또한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재질문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하지 않음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3707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89077-FCC5-B44D-CA27-65310CF27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FAE513D-96C2-B156-184C-157FEEA3A53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680AB1E4-9CCF-0AC7-D235-BE4B3BC79A24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34EA13F-AC0A-9697-8341-0C61936BE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성공 조건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횟수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 이하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병명 후보가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남은 경우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병명 후보를 확정 지음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실패 조건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횟수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15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 초과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후보가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 이상인 경우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실패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병명을 확정 짓기 전에 질문이 다 떨어진 경우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실패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질문 생성 실패한 경우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 연속 중복 질문 생성 또는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GPT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오류 등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실패 시 병명 후보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후보의 최고 응급도 출력 후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연결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처음 부터 재시작 선택지  제공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28061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B9A5-3A50-585A-3F45-1A78D6716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CBADF7-115A-10B1-67E5-0467DE87D80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5E999016-D706-0892-1212-E77921F0D75B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F7E0B3E9-4FE6-B1D9-F7B0-2DFEE0381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응급도 기반 분기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긴급 상황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바로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신고 후 응급처치 안내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 상황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119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신고 사용자 의사 확인 후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119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신고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+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응급처치 안내 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바로 응급처치 안내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비응급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상황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바로 응급처치 안내</a:t>
            </a:r>
            <a:endParaRPr kumimoji="1"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신고는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백엔드에서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진행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에이전트에서 </a:t>
            </a:r>
            <a:r>
              <a:rPr kumimoji="1"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백엔드로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환자의 증상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</a:t>
            </a:r>
            <a:r>
              <a:rPr kumimoji="1"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1"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 위치 데이터 전달</a:t>
            </a:r>
          </a:p>
        </p:txBody>
      </p:sp>
    </p:spTree>
    <p:extLst>
      <p:ext uri="{BB962C8B-B14F-4D97-AF65-F5344CB8AC3E}">
        <p14:creationId xmlns:p14="http://schemas.microsoft.com/office/powerpoint/2010/main" val="728701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872C4-DF01-CFF1-1005-C0F9EA8A7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84C1D8-E79E-9372-7D7E-4318315E1DE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2.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본론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49" name="제목 1">
            <a:extLst>
              <a:ext uri="{FF2B5EF4-FFF2-40B4-BE49-F238E27FC236}">
                <a16:creationId xmlns:a16="http://schemas.microsoft.com/office/drawing/2014/main" id="{B970D8A8-F7AB-F0AD-8AF9-1F9E2D870FE3}"/>
              </a:ext>
            </a:extLst>
          </p:cNvPr>
          <p:cNvSpPr txBox="1">
            <a:spLocks/>
          </p:cNvSpPr>
          <p:nvPr/>
        </p:nvSpPr>
        <p:spPr>
          <a:xfrm>
            <a:off x="457201" y="665485"/>
            <a:ext cx="11277599" cy="4814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baseline="0">
                <a:solidFill>
                  <a:schemeClr val="tx1"/>
                </a:solidFill>
                <a:latin typeface="Montserrat Medium" pitchFamily="2" charset="0"/>
                <a:ea typeface="맑은 고딕" panose="020B0503020000020004" pitchFamily="34" charset="-127"/>
                <a:cs typeface="+mj-cs"/>
              </a:defRPr>
            </a:lvl1pPr>
          </a:lstStyle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기능 설명</a:t>
            </a:r>
            <a:endParaRPr kumimoji="1" lang="en-US" altLang="ko-KR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57448883-2ECF-C822-4217-5E588154D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9687"/>
            <a:ext cx="11277600" cy="5280322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코드 실행 예시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081B48-E37B-489D-033B-805D1CFC1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41" y="1944819"/>
            <a:ext cx="7711518" cy="425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2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190D2-6EDB-4110-C339-29149766E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798A482-7029-D9AA-4B00-0958DE031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  <a:endParaRPr kumimoji="1"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07BAD12-133C-E21F-FE1A-7C1BD567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383262-9992-EA22-89CA-6B8728B2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pPr/>
              <a:t>15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0409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044C5-3E4A-B33A-6134-B74AA6C52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87E7AA-A10A-246B-BF3F-161A77C8F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387098-28EF-B209-E518-7534527D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AF31645-E473-E075-88EF-E8546AAB5E4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B89F4C-BFF5-2012-1FA1-D27F92ACD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질병 명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 데이터 개선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질병 명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 데이터는 동일한 증상 통일화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(ex: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가슴통증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==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흉통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증상이 너무 긴 경우가 존재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간소화 필요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2423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84733-A3F7-1E86-003E-4E6F29B2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EFCAF-E10E-427C-9A28-C62C7F0C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70FEF7-735C-8221-B9D9-A98A9540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17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4641706-7745-BF29-E479-554EE3873B0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E9916E-7E1E-50E5-F20C-305357357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히스토리 시스템 업그레이드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 분류 전용 히스토리 시스템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후에 기능 개선을 위한 전체 발화 히스토리 시스템 분류 예정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현재 사용자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에이전트 발화 내용을 저장하는 히스토리가 존재 하지만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사용한 것이 아님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차후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사용자의 발화 데이터를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를 사용하여 관리 하도록 업그레이드 예정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 업그레이드 시 저장 기간 선정 필요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스크립트가 끝나면 데이터 삭제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유지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38159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5C173-5B2D-C6F1-05D2-2CED04E1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2B94B0-A727-28DF-DE9F-F44D0F202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2000EE-8752-CA1A-EC1A-0F9CB7421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52B1674-6D3C-C116-967F-DD98C4899A9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A261B4-3C78-D688-42EA-46F5D77CE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미 확정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fallback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처리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(GPT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강제 추론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후보가 끝까지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개로 좁히지 못했을 경우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지금까지의 히스토리를 기반으로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GPT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 최종 병명 추론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이때 프롬프트에 포함되어야 할 요소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</a:t>
            </a:r>
          </a:p>
          <a:p>
            <a:pPr lvl="2">
              <a:buFontTx/>
              <a:buChar char="-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질병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증상 매핑 전체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답변 히스토리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확정되지 않은 후보군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3843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0E5C-4148-E440-63EB-EED31B22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48137-0886-8158-82FD-C1E6267A6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EB70E5-97F4-C750-E1DA-A015FF32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19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0DFC97-7ED5-47EB-3DB9-DE6754B037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59234D-6E3F-CD42-F927-A00BAD291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7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응급도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 분류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동일한 질병일지라도 케이스에 따라 응급도가 달라짐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응급처치는 동일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환자의 상태를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차로 분류하는 기능 필요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-&gt;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긴급 격상 조건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2">
              <a:buFontTx/>
              <a:buChar char="-"/>
            </a:pPr>
            <a:r>
              <a:rPr lang="ko-KR" altLang="en-US" sz="18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비응급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-&gt;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 </a:t>
            </a:r>
            <a:r>
              <a:rPr lang="en-US" altLang="ko-KR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or </a:t>
            </a:r>
            <a:r>
              <a: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긴급 격상 조건</a:t>
            </a:r>
            <a:endParaRPr lang="en-US" altLang="ko-KR" sz="1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Mayo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Clinic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First Aid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참고 예정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16510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B8BBC-5641-8EA1-CAC4-1D6C61DDD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5064F9-7F34-DA23-BD98-61E96CAB1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C2814F-57B4-8AFA-ED87-90DA35477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20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37B9368-C78A-2D48-48DE-FBFE2707C1E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771409-1AA3-3DF4-ED0D-1680984C3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응급처치 안내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모든 응급처치 방법을 프롬프트에 넣을 시 토큰이 많아 비용이 많이 발생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이를 예방하기 위해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RAG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사용예정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응급처치 가이드 라인은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Mayo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Clinic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의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First Aid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 참고 예정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5887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3461F-E5E3-56EA-226D-E706034C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99A3B-69C1-3069-A6CF-08CEB945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DE38E-08C5-DAA8-0099-2DAD56565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21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B953B33-6080-76D3-0E64-A4CDE38006B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5E4441-F97C-46E6-4DD9-493E915AB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정확한 위치 수집</a:t>
            </a:r>
            <a:endParaRPr lang="en-US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GPS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데이터는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백엔드가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수집하지만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상제 위치는 에이전트에서 수집해야 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“건물 이름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층수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위치 설명 등” 정확한 정보를 자연어 대화를 통해 불어보고 수집해야 함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해당 데이터를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백엔드로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전달하여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119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출동 요청 메시지를 구성하는데 사용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9257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C895-5D98-D467-0444-54A24977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C08BDF-0148-9B22-0264-5673E87A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D9DF9-C375-1766-7E91-25EE8F5D0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69936-1CF7-8B41-99CC-EA13D2E0EB90}" type="slidenum">
              <a:rPr kumimoji="1" lang="ko-KR" altLang="en-US" smtClean="0">
                <a:latin typeface="Noto Sans KR" panose="020B0200000000000000" pitchFamily="50" charset="-127"/>
                <a:ea typeface="Noto Sans KR" panose="020B0200000000000000" pitchFamily="50" charset="-127"/>
              </a:rPr>
              <a:t>22</a:t>
            </a:fld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6704FC-F8D4-434D-37B5-713B74012FC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kumimoji="1" lang="en-US" altLang="ko-KR">
                <a:latin typeface="Noto Sans KR" panose="020B0200000000000000" pitchFamily="50" charset="-127"/>
                <a:ea typeface="Noto Sans KR" panose="020B0200000000000000" pitchFamily="50" charset="-127"/>
              </a:rPr>
              <a:t>Chapter 3. </a:t>
            </a:r>
            <a:r>
              <a:rPr kumimoji="1" lang="ko-KR" altLang="en-US">
                <a:latin typeface="Noto Sans KR" panose="020B0200000000000000" pitchFamily="50" charset="-127"/>
                <a:ea typeface="Noto Sans KR" panose="020B0200000000000000" pitchFamily="50" charset="-127"/>
              </a:rPr>
              <a:t>결론</a:t>
            </a:r>
            <a:endParaRPr kumimoji="1"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4C3DCD-E04E-BC0C-4F2E-C2F4CB078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49686"/>
            <a:ext cx="11609109" cy="539958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프로젝트에서 에이전트는 사용자와 실시간 대화를 통해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병명을 추론하고 응급처치를 안내하는 것을 주요 목표로 한다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과정 중 분기를 설정하여 전체적인 흐름을 제어한다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 lvl="1">
              <a:buFontTx/>
              <a:buChar char="-"/>
            </a:pP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GPT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호출 실패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분기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중복 질문 생성 분기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질문 횟수 분기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실패 분기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1">
              <a:buFontTx/>
              <a:buChar char="-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병명 확정 성공 시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응급도에 따른 분기</a:t>
            </a:r>
            <a:endParaRPr lang="en-US" altLang="ko-KR" sz="20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백엔드와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데이터를 주고 받아야 하므로 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API 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형식으로 </a:t>
            </a:r>
            <a:r>
              <a:rPr lang="ko-KR" altLang="en-US" sz="20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리팩토링을</a:t>
            </a: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해야 한다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추가 해야 하는 기능을 구현 하여야 한다</a:t>
            </a:r>
            <a:r>
              <a:rPr lang="en-US" altLang="ko-KR" sz="20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0477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145BC3A7-EE7B-FE4A-0411-5D5E1EE5AE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감사합니다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1990A8-917B-1552-CAE1-FEBA05A43420}"/>
              </a:ext>
            </a:extLst>
          </p:cNvPr>
          <p:cNvSpPr txBox="1"/>
          <p:nvPr/>
        </p:nvSpPr>
        <p:spPr>
          <a:xfrm>
            <a:off x="6957117" y="5023936"/>
            <a:ext cx="400546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kumimoji="1" lang="en-US" altLang="ko-KR" sz="2000" dirty="0">
                <a:latin typeface="Montserrat Medium" pitchFamily="2" charset="0"/>
              </a:rPr>
              <a:t>Park</a:t>
            </a:r>
            <a:r>
              <a:rPr kumimoji="1" lang="ko-KR" altLang="en-US" sz="2000" dirty="0">
                <a:latin typeface="Montserrat Medium" pitchFamily="2" charset="0"/>
              </a:rPr>
              <a:t> </a:t>
            </a:r>
            <a:r>
              <a:rPr kumimoji="1" lang="en-US" altLang="ko-KR" sz="2000" dirty="0">
                <a:latin typeface="Montserrat Medium" pitchFamily="2" charset="0"/>
              </a:rPr>
              <a:t>Junhoo</a:t>
            </a:r>
          </a:p>
          <a:p>
            <a:pPr algn="l">
              <a:lnSpc>
                <a:spcPct val="100000"/>
              </a:lnSpc>
            </a:pPr>
            <a:endParaRPr kumimoji="1" lang="en-US" altLang="ko-KR" sz="1400" b="0" i="0" dirty="0">
              <a:latin typeface="Montserrat" pitchFamily="2" charset="0"/>
              <a:hlinkClick r:id="rId3"/>
            </a:endParaRPr>
          </a:p>
          <a:p>
            <a:pPr algn="l">
              <a:lnSpc>
                <a:spcPct val="100000"/>
              </a:lnSpc>
            </a:pPr>
            <a:r>
              <a:rPr kumimoji="1" lang="en-US" altLang="ko-KR" sz="1400" b="0" i="0" dirty="0">
                <a:latin typeface="Montserrat" pitchFamily="2" charset="0"/>
              </a:rPr>
              <a:t>email</a:t>
            </a:r>
          </a:p>
          <a:p>
            <a:pPr algn="l">
              <a:lnSpc>
                <a:spcPct val="100000"/>
              </a:lnSpc>
            </a:pPr>
            <a:r>
              <a:rPr kumimoji="1" lang="en-US" altLang="ko-KR" sz="1400" b="0" i="0" dirty="0">
                <a:latin typeface="Montserrat" pitchFamily="2" charset="0"/>
              </a:rPr>
              <a:t>https://kilab.hanbat.ac.kr/</a:t>
            </a:r>
          </a:p>
        </p:txBody>
      </p:sp>
    </p:spTree>
    <p:extLst>
      <p:ext uri="{BB962C8B-B14F-4D97-AF65-F5344CB8AC3E}">
        <p14:creationId xmlns:p14="http://schemas.microsoft.com/office/powerpoint/2010/main" val="330749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defRPr kumimoji="1" spc="-80" dirty="0" smtClean="0">
            <a:latin typeface="Montserrat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</TotalTime>
  <Words>1030</Words>
  <Application>Microsoft Office PowerPoint</Application>
  <PresentationFormat>와이드스크린</PresentationFormat>
  <Paragraphs>209</Paragraphs>
  <Slides>23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4" baseType="lpstr">
      <vt:lpstr>Noto Sans KR</vt:lpstr>
      <vt:lpstr>맑은 고딕</vt:lpstr>
      <vt:lpstr>Arial</vt:lpstr>
      <vt:lpstr>Calibri</vt:lpstr>
      <vt:lpstr>Calibri Light</vt:lpstr>
      <vt:lpstr>Montserrat</vt:lpstr>
      <vt:lpstr>Montserrat Light</vt:lpstr>
      <vt:lpstr>Montserrat Medium</vt:lpstr>
      <vt:lpstr>Montserrat SemiBold</vt:lpstr>
      <vt:lpstr>Wingdings</vt:lpstr>
      <vt:lpstr>Office 테마</vt:lpstr>
      <vt:lpstr>응급처치 어플</vt:lpstr>
      <vt:lpstr>Outline</vt:lpstr>
      <vt:lpstr>Chapter 1. 서론</vt:lpstr>
      <vt:lpstr>프로젝트 목표</vt:lpstr>
      <vt:lpstr>프로젝트 목표</vt:lpstr>
      <vt:lpstr>Chapter 2. 본론</vt:lpstr>
      <vt:lpstr>시스템 아키텍쳐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Chapter 3. 결론</vt:lpstr>
      <vt:lpstr>추가 해야 하는 기능</vt:lpstr>
      <vt:lpstr>추가 해야 하는 기능</vt:lpstr>
      <vt:lpstr>추가 해야 하는 기능</vt:lpstr>
      <vt:lpstr>추가 해야 하는 기능</vt:lpstr>
      <vt:lpstr>추가 해야 하는 기능</vt:lpstr>
      <vt:lpstr>추가 해야 하는 기능</vt:lpstr>
      <vt:lpstr>결론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</dc:title>
  <dc:creator>박천음</dc:creator>
  <cp:lastModifiedBy>박준후</cp:lastModifiedBy>
  <cp:revision>2147</cp:revision>
  <dcterms:created xsi:type="dcterms:W3CDTF">2024-03-04T14:22:26Z</dcterms:created>
  <dcterms:modified xsi:type="dcterms:W3CDTF">2025-10-29T13:42:47Z</dcterms:modified>
  <cp:version/>
</cp:coreProperties>
</file>