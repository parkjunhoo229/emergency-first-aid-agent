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454" r:id="rId4"/>
    <p:sldId id="455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52" r:id="rId14"/>
    <p:sldId id="453" r:id="rId15"/>
    <p:sldId id="287" r:id="rId16"/>
    <p:sldId id="275" r:id="rId17"/>
  </p:sldIdLst>
  <p:sldSz cx="18288000" cy="10287000"/>
  <p:notesSz cx="6858000" cy="9144000"/>
  <p:embeddedFontLst>
    <p:embeddedFont>
      <p:font typeface="G마켓 산스 TTF Medium" panose="02000000000000000000" pitchFamily="2" charset="-127"/>
      <p:regular r:id="rId19"/>
    </p:embeddedFont>
    <p:embeddedFont>
      <p:font typeface="Pretendard Regular" panose="020B0600000101010101" charset="-127"/>
      <p:regular r:id="rId20"/>
    </p:embeddedFont>
    <p:embeddedFont>
      <p:font typeface="G마켓 산스 TTF Bold" panose="02000000000000000000" pitchFamily="2" charset="-127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분" id="{02AB184C-98C5-46E2-95B3-8C3ED8B6F8BB}">
          <p14:sldIdLst>
            <p14:sldId id="256"/>
            <p14:sldId id="257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52"/>
            <p14:sldId id="453"/>
            <p14:sldId id="287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1B8F8A"/>
    <a:srgbClr val="161616"/>
    <a:srgbClr val="FFEF99"/>
    <a:srgbClr val="FFFF93"/>
    <a:srgbClr val="138679"/>
    <a:srgbClr val="D53F38"/>
    <a:srgbClr val="E6E6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3684" autoAdjust="0"/>
  </p:normalViewPr>
  <p:slideViewPr>
    <p:cSldViewPr>
      <p:cViewPr>
        <p:scale>
          <a:sx n="66" d="100"/>
          <a:sy n="66" d="100"/>
        </p:scale>
        <p:origin x="1218" y="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62C74-C16E-4384-A3D5-988283B55B47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0662F-BA55-4BDD-9E8A-ED23B34F1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80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966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7CC7-BEAD-FD60-9E6F-8A37C79D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08BBC-1E93-F122-C7FD-685FCFB75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ECA4B6-F758-9F62-029E-30F338CE6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50CC6-8A01-504C-7ED3-8AC7C4824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838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AACF2-3B2C-F79F-A9C8-BB25B97C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9CD340-8F98-200B-AF7C-FD7C849DD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1D983F-1305-7C87-05DC-D7B3FD213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714095-9E55-EB75-947C-BE8C381E4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467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BAAC-9D14-AF84-084E-36082127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51BAC-5B2D-C43A-0B54-F21DF57AB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ADD898-C337-504E-9FE8-EEA6EC3C0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8D20A-18D7-5428-22FC-54CED1841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2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485D4-1E3D-E63D-31BF-BCC3617D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D9329F-EDA2-BC57-E741-E2FE93F8B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870BC5-2B1D-0D6A-602F-672087C28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AEF24-9342-01EA-B686-2932B873D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313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FBA0-DFD9-9955-BDCE-043A882A3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B1E0B1-1A3E-0BC7-A8D0-AB25EEFDF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17DA2A-0710-37E8-0B7E-27CB7A3AD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99028-9739-2F74-3B1E-19A583E5F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80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8D0E-FCBC-95AC-ABE9-103B7D0F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DA780B-8C01-822C-5552-E98E798FC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0988F4-7632-F183-97C4-62ADF7E77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E69D74-72FE-57CA-58DE-0D0AB52EA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928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8471-6C77-A607-DD85-78643BA1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D936F2-F87B-9BD2-DB88-D277785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1E7E96-DF5F-46A2-04EB-900A8E361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3565F6-C28F-F0C1-93E9-3BE4F5441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803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6E52-B302-FAD3-251D-457EC0CE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5264A1-51B7-ECF7-3284-23E2663EF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54DCCA-385D-E77E-8720-E831721F4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BB562E-27E8-0AF9-BF78-B0A149172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915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3F09-E1A7-4150-929F-538CB316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3CD43-2E87-95D1-E30F-45278CA35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2F647B-F869-53A1-2225-95AF80810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2FEE5C-628B-2F9B-517E-53AC39FE2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70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C1B3-DC3D-E443-2DC1-CE6D6DBC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4A528-613B-192D-146C-A12EBB8D9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253F0C-5710-F3C5-5C47-8DB3B45AC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61CA4-7B35-963D-D016-3F4C4703F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456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0662F-BA55-4BDD-9E8A-ED23B34F14B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29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A480F-E296-4832-BC50-47F03C7FF87E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3D7BE-0DEF-4D67-B179-AEF9785443D6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9192-0275-4AC1-A97E-CD9D02FF9946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60E7-28BF-4A74-8BA0-7BA6914311D4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C6F9-71B7-447E-AFCD-0EACE1293A1B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01460-275B-4038-9388-190B6AE018E9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B7A5B-C5E3-4982-8152-5861C9C82BD5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9C904-36E5-45D1-81DD-120EFDB37828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073E-5C3E-46A1-9D22-60E54446162A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6616F-72ED-45F8-A52C-8FD9033BEED2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C0ADC-C386-4FBE-9BB1-1FCB38F84ECE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88A5B-2E22-43A6-BF24-0413CEED06B5}" type="datetime1">
              <a:rPr lang="en-US" altLang="ko-KR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155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25850" y="4229100"/>
            <a:ext cx="11036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spc="-1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 처치</a:t>
            </a:r>
            <a:r>
              <a:rPr lang="en-US" altLang="ko-KR" sz="6600" spc="-1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600" spc="-1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앱</a:t>
            </a:r>
            <a:endParaRPr lang="ko-KR" sz="6600" b="0" i="0" u="none" strike="noStrike" spc="-1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097000" y="7581900"/>
            <a:ext cx="3810000" cy="224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300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20191732 </a:t>
            </a:r>
            <a:r>
              <a:rPr lang="ko-KR" altLang="en-US" sz="2300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박준후</a:t>
            </a:r>
            <a:endParaRPr lang="en-US" altLang="ko-KR" sz="23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0" algn="l">
              <a:lnSpc>
                <a:spcPct val="99600"/>
              </a:lnSpc>
            </a:pPr>
            <a:r>
              <a:rPr lang="en-US" altLang="ko-KR" sz="23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20227134 </a:t>
            </a:r>
            <a:r>
              <a:rPr lang="ko-KR" altLang="en-US" sz="23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이창석</a:t>
            </a:r>
            <a:endParaRPr lang="en-US" altLang="ko-KR" sz="23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0" algn="l">
              <a:lnSpc>
                <a:spcPct val="99600"/>
              </a:lnSpc>
            </a:pPr>
            <a:endParaRPr lang="ko-KR" sz="23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FD882AE-1CA2-98C2-A063-990F3F9AC717}"/>
              </a:ext>
            </a:extLst>
          </p:cNvPr>
          <p:cNvSpPr txBox="1"/>
          <p:nvPr/>
        </p:nvSpPr>
        <p:spPr>
          <a:xfrm>
            <a:off x="3625850" y="5410200"/>
            <a:ext cx="110363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000" spc="-100" dirty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First Aid Agent App</a:t>
            </a:r>
            <a:endParaRPr lang="ko-KR" sz="4000" i="0" u="none" strike="noStrike" spc="-100" dirty="0">
              <a:solidFill>
                <a:srgbClr val="0070C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44600" y="482600"/>
            <a:ext cx="10160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900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목차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4600" y="1485900"/>
            <a:ext cx="7899400" cy="681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200000"/>
              </a:lnSpc>
            </a:pPr>
            <a:r>
              <a:rPr lang="en-US" altLang="ko-KR" sz="3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en-US" altLang="ko-KR" sz="320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 </a:t>
            </a:r>
            <a:r>
              <a:rPr lang="ko-KR" altLang="en-US" sz="320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방학 동안 수행 </a:t>
            </a:r>
            <a:r>
              <a:rPr lang="ko-KR" altLang="en-US" sz="3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내용</a:t>
            </a:r>
          </a:p>
          <a:p>
            <a:pPr lvl="0">
              <a:lnSpc>
                <a:spcPct val="200000"/>
              </a:lnSpc>
            </a:pPr>
            <a:r>
              <a:rPr lang="en-US" altLang="ko-KR" sz="3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</a:t>
            </a:r>
            <a:r>
              <a:rPr lang="en-US" altLang="ko-KR" sz="320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 </a:t>
            </a:r>
            <a:r>
              <a:rPr lang="ko-KR" altLang="en-US" sz="320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앞으로 향후 </a:t>
            </a:r>
            <a:r>
              <a:rPr lang="ko-KR" altLang="en-US" sz="3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계획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7219C8-F6B0-603C-1A3A-EA00B984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2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04A76-8767-5EF0-B854-12DF229A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24B04E4-DCF1-7A28-55F1-98AE7DA1DD71}"/>
              </a:ext>
            </a:extLst>
          </p:cNvPr>
          <p:cNvSpPr txBox="1"/>
          <p:nvPr/>
        </p:nvSpPr>
        <p:spPr>
          <a:xfrm>
            <a:off x="3625850" y="4552950"/>
            <a:ext cx="11036300" cy="11811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66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</a:t>
            </a:r>
          </a:p>
        </p:txBody>
      </p:sp>
    </p:spTree>
    <p:extLst>
      <p:ext uri="{BB962C8B-B14F-4D97-AF65-F5344CB8AC3E}">
        <p14:creationId xmlns:p14="http://schemas.microsoft.com/office/powerpoint/2010/main" val="150583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52A26-8C0A-1184-E635-D4921803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6379362-8BF1-6674-B138-E20A1E2D1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CA934414-83A7-BF0F-D936-53C0958A1A82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정리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A18099-A3CD-1A50-0CD7-5B2D85AE3588}"/>
              </a:ext>
            </a:extLst>
          </p:cNvPr>
          <p:cNvSpPr/>
          <p:nvPr/>
        </p:nvSpPr>
        <p:spPr>
          <a:xfrm>
            <a:off x="6718300" y="2616215"/>
            <a:ext cx="10591800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Newsweek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에서 선정한 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2024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년 세계 병원 순위 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위인 미국의 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MAYO CLINIC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 지원하는 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First aid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정보를 참고하여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아래 데이터들을 구축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 1.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증상 매핑 데이터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 2.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병명별 심각한 증상의 데이터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 3.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병명별 응급처치 데이터</a:t>
            </a:r>
            <a:endParaRPr lang="en-US" altLang="ko-KR" sz="3200" dirty="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6E3C5E-1845-20A6-467D-9C298BAA5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788047"/>
            <a:ext cx="4495800" cy="4990338"/>
          </a:xfrm>
          <a:prstGeom prst="rect">
            <a:avLst/>
          </a:prstGeom>
        </p:spPr>
      </p:pic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18F842E1-DB58-D9C0-0D8A-6BBD52D3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7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BE46-B4EC-CCAD-BB9B-CC4C45A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F479DDE-9C15-ECD6-8F16-3960E990A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52960918-A3E4-4DD4-F2DB-7DB57FC3AF8F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정리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DC1D3-D0D5-5E4B-785B-95245153FCEC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증상 매핑 데이터 수정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기존의 외국식 표현이였던 병명 수정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다른 병의 하위 증상이였던 병 제거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일부 증상에 대한 부연 설명 추가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306B1B7-6AE9-D0F7-3174-56AD8C577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4457700"/>
            <a:ext cx="9757446" cy="4927608"/>
          </a:xfrm>
          <a:prstGeom prst="rect">
            <a:avLst/>
          </a:prstGeom>
        </p:spPr>
      </p:pic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2B3FCE02-B264-7942-9130-AE7FA400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5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60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B9FB-4728-1F81-633F-447381E1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8371C68-F576-9780-9187-E31DC3530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8F6D8313-F107-6F82-9FA4-BE7CD6A07B24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정리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052961-8D90-9E8E-20FE-044915C24C59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병명별 심각한 증상의 데이터 구축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증상 매핑 데이터의 응급도 레벨에 영향을 주는 심각한 증상 데이터 구축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병명이 추론이 끝나고 병명이 확정된 뒤 최종 응급도를 정하는데 사용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FD7354-CD79-E650-0C21-0DA0F36A5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4000500"/>
            <a:ext cx="7518400" cy="5129171"/>
          </a:xfrm>
          <a:prstGeom prst="rect">
            <a:avLst/>
          </a:prstGeom>
        </p:spPr>
      </p:pic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00ABBDB8-45F3-D5CD-BA9F-79E0F6FC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6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45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64DD-6441-0B68-37AB-FDA17FA5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7C0C249-3E52-4C6C-EF71-A17E17A5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76E16D35-8E5E-D9BB-031D-442968AD36B4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정리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8F2F30-C76A-432A-5D90-A92016CD705E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병명별 응급처치 데이터 구축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4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모든 절차가 끝난 후 마지막으로 환자의 병에 대한 응급처치를 안내하기 위한 데이터</a:t>
            </a:r>
            <a:endParaRPr lang="en-US" altLang="ko-KR" sz="24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4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해당 데이터를 사용하여 환자에게 적합한 응급처치를 제공</a:t>
            </a:r>
            <a:endParaRPr lang="en-US" altLang="ko-KR" sz="24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093B3F-CDF9-2606-97DD-95CA64B84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957" y="3771900"/>
            <a:ext cx="9220200" cy="6055465"/>
          </a:xfrm>
          <a:prstGeom prst="rect">
            <a:avLst/>
          </a:prstGeom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F64AC93-3458-AADE-C39C-37FC5194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7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13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80315-4358-8298-9AE9-BEDFF513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D4151D-8205-A4B6-D0F7-B626EE4C23BB}"/>
              </a:ext>
            </a:extLst>
          </p:cNvPr>
          <p:cNvSpPr/>
          <p:nvPr/>
        </p:nvSpPr>
        <p:spPr>
          <a:xfrm>
            <a:off x="2590800" y="7048500"/>
            <a:ext cx="12115800" cy="2819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CFEFDFC-4C57-B51E-FE98-FAE39FFE00B7}"/>
              </a:ext>
            </a:extLst>
          </p:cNvPr>
          <p:cNvSpPr/>
          <p:nvPr/>
        </p:nvSpPr>
        <p:spPr>
          <a:xfrm>
            <a:off x="3952876" y="7581900"/>
            <a:ext cx="9458324" cy="1123950"/>
          </a:xfrm>
          <a:prstGeom prst="roundRect">
            <a:avLst/>
          </a:prstGeom>
          <a:solidFill>
            <a:srgbClr val="1B8F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EED542-260C-1C44-6C7A-9AC1D8BD1821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 추론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기존의 발화 분석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 추론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후속 질문 생성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방식에서 오류가 빈번하게 발생하여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GPT API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하나로 통합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ABE43C2-99C7-540E-7DC6-36800D03F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6B3C4A00-E5E9-ABAE-B1F8-E07D0C9FCAA6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개발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4C22482-E652-F167-2CBC-CD26866E97A7}"/>
              </a:ext>
            </a:extLst>
          </p:cNvPr>
          <p:cNvGrpSpPr/>
          <p:nvPr/>
        </p:nvGrpSpPr>
        <p:grpSpPr>
          <a:xfrm>
            <a:off x="2590800" y="3924300"/>
            <a:ext cx="12115800" cy="2819400"/>
            <a:chOff x="2590800" y="4305300"/>
            <a:chExt cx="12115800" cy="28194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7AF4F24-2CD1-2836-B574-D5437C57B07E}"/>
                </a:ext>
              </a:extLst>
            </p:cNvPr>
            <p:cNvSpPr/>
            <p:nvPr/>
          </p:nvSpPr>
          <p:spPr>
            <a:xfrm>
              <a:off x="2590800" y="4305300"/>
              <a:ext cx="12115800" cy="2819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9C0CC392-FA00-00BB-3590-265710EE78AD}"/>
                </a:ext>
              </a:extLst>
            </p:cNvPr>
            <p:cNvSpPr/>
            <p:nvPr/>
          </p:nvSpPr>
          <p:spPr>
            <a:xfrm>
              <a:off x="3927476" y="4838700"/>
              <a:ext cx="2667000" cy="1123950"/>
            </a:xfrm>
            <a:prstGeom prst="roundRect">
              <a:avLst/>
            </a:prstGeom>
            <a:solidFill>
              <a:srgbClr val="1B8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/>
                <a:t>발화 분석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656E4959-422D-6D61-B75E-549C229D3E64}"/>
                </a:ext>
              </a:extLst>
            </p:cNvPr>
            <p:cNvSpPr/>
            <p:nvPr/>
          </p:nvSpPr>
          <p:spPr>
            <a:xfrm>
              <a:off x="7391400" y="4838700"/>
              <a:ext cx="2667000" cy="1123950"/>
            </a:xfrm>
            <a:prstGeom prst="roundRect">
              <a:avLst/>
            </a:prstGeom>
            <a:solidFill>
              <a:srgbClr val="1B8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/>
                <a:t>병명 추론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AA25D0A-6763-3562-C481-1AE58E3117F1}"/>
                </a:ext>
              </a:extLst>
            </p:cNvPr>
            <p:cNvSpPr/>
            <p:nvPr/>
          </p:nvSpPr>
          <p:spPr>
            <a:xfrm>
              <a:off x="10718800" y="4838700"/>
              <a:ext cx="2667000" cy="1123950"/>
            </a:xfrm>
            <a:prstGeom prst="roundRect">
              <a:avLst/>
            </a:prstGeom>
            <a:solidFill>
              <a:srgbClr val="1B8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b="1"/>
                <a:t>후속 질문 생성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B20FE93E-0148-DA43-6D1D-4920B5F5D495}"/>
                </a:ext>
              </a:extLst>
            </p:cNvPr>
            <p:cNvCxnSpPr>
              <a:stCxn id="5" idx="3"/>
              <a:endCxn id="8" idx="1"/>
            </p:cNvCxnSpPr>
            <p:nvPr/>
          </p:nvCxnSpPr>
          <p:spPr>
            <a:xfrm>
              <a:off x="6594476" y="5400675"/>
              <a:ext cx="796924" cy="0"/>
            </a:xfrm>
            <a:prstGeom prst="straightConnector1">
              <a:avLst/>
            </a:prstGeom>
            <a:ln w="38100">
              <a:solidFill>
                <a:srgbClr val="1616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562C3B30-7121-FEB3-CDE0-556BE54EE343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10058400" y="5400675"/>
              <a:ext cx="660400" cy="0"/>
            </a:xfrm>
            <a:prstGeom prst="straightConnector1">
              <a:avLst/>
            </a:prstGeom>
            <a:ln w="38100">
              <a:solidFill>
                <a:srgbClr val="16161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546BEF8C-4CBC-E24F-ACB0-B6ACBE18322B}"/>
                </a:ext>
              </a:extLst>
            </p:cNvPr>
            <p:cNvCxnSpPr>
              <a:stCxn id="9" idx="2"/>
              <a:endCxn id="5" idx="2"/>
            </p:cNvCxnSpPr>
            <p:nvPr/>
          </p:nvCxnSpPr>
          <p:spPr>
            <a:xfrm rot="5400000">
              <a:off x="8656638" y="2566988"/>
              <a:ext cx="12700" cy="6791324"/>
            </a:xfrm>
            <a:prstGeom prst="bentConnector3">
              <a:avLst>
                <a:gd name="adj1" fmla="val 52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2EFF385-F6D2-F9BF-2DA8-819D5F235DD9}"/>
                </a:ext>
              </a:extLst>
            </p:cNvPr>
            <p:cNvSpPr txBox="1"/>
            <p:nvPr/>
          </p:nvSpPr>
          <p:spPr>
            <a:xfrm>
              <a:off x="2590800" y="4305300"/>
              <a:ext cx="2133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기존 방식</a:t>
              </a: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B25382F-F714-5369-B4BC-AAB54C8EE54F}"/>
              </a:ext>
            </a:extLst>
          </p:cNvPr>
          <p:cNvSpPr/>
          <p:nvPr/>
        </p:nvSpPr>
        <p:spPr>
          <a:xfrm>
            <a:off x="3962400" y="7581900"/>
            <a:ext cx="2667000" cy="11239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병명 추론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8A0FCEC-4763-CE8C-E37F-4D4A01987D67}"/>
              </a:ext>
            </a:extLst>
          </p:cNvPr>
          <p:cNvSpPr/>
          <p:nvPr/>
        </p:nvSpPr>
        <p:spPr>
          <a:xfrm>
            <a:off x="10744200" y="7562850"/>
            <a:ext cx="2667000" cy="11239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후속 질문 생성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B5FEF63-EBB5-5B61-275E-88CF3D895EE2}"/>
              </a:ext>
            </a:extLst>
          </p:cNvPr>
          <p:cNvCxnSpPr>
            <a:cxnSpLocks/>
          </p:cNvCxnSpPr>
          <p:nvPr/>
        </p:nvCxnSpPr>
        <p:spPr>
          <a:xfrm>
            <a:off x="7791450" y="8143875"/>
            <a:ext cx="2038350" cy="0"/>
          </a:xfrm>
          <a:prstGeom prst="straightConnector1">
            <a:avLst/>
          </a:prstGeom>
          <a:ln w="38100">
            <a:solidFill>
              <a:srgbClr val="F0F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F6CC954-D6FF-DF58-BFFB-CC0F946DD121}"/>
              </a:ext>
            </a:extLst>
          </p:cNvPr>
          <p:cNvCxnSpPr>
            <a:cxnSpLocks/>
          </p:cNvCxnSpPr>
          <p:nvPr/>
        </p:nvCxnSpPr>
        <p:spPr>
          <a:xfrm rot="5400000">
            <a:off x="8713788" y="5291138"/>
            <a:ext cx="12700" cy="6791324"/>
          </a:xfrm>
          <a:prstGeom prst="bentConnector3">
            <a:avLst>
              <a:gd name="adj1" fmla="val 52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D942CC5-72EF-61EE-147E-AF5C376274D3}"/>
              </a:ext>
            </a:extLst>
          </p:cNvPr>
          <p:cNvSpPr txBox="1"/>
          <p:nvPr/>
        </p:nvSpPr>
        <p:spPr>
          <a:xfrm>
            <a:off x="2590800" y="70485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현재 방식</a:t>
            </a:r>
          </a:p>
        </p:txBody>
      </p:sp>
      <p:sp>
        <p:nvSpPr>
          <p:cNvPr id="66" name="슬라이드 번호 개체 틀 5">
            <a:extLst>
              <a:ext uri="{FF2B5EF4-FFF2-40B4-BE49-F238E27FC236}">
                <a16:creationId xmlns:a16="http://schemas.microsoft.com/office/drawing/2014/main" id="{FF252B3D-8B9F-B44D-BDAD-3693ADB0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8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32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B9E0A-EBEF-245E-8996-F336D4A2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8A29DC-8081-A312-99D0-62B6AD02DD89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GPT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결과물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기존의 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GPT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결과물이 형식을 프롬프트로 입력시켜도 형식이 달라 파싱에 어려움을 겪는 경우가 종종 생겨 결과물을 </a:t>
            </a:r>
            <a:r>
              <a:rPr lang="en-US" altLang="ko-KR" sz="280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json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형식으로 고정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F1FB24F-5FFE-2C79-9B7A-D5E9E5ABD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057F0B5E-BAA4-CDBA-3E4E-3F1F6F42090E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개발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E6FA251-E43D-3FF5-B140-F10AB6B5F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06" y="4667247"/>
            <a:ext cx="5563358" cy="44734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FA8D21-B1B7-7BF9-62A6-6FE88D6D5B98}"/>
              </a:ext>
            </a:extLst>
          </p:cNvPr>
          <p:cNvSpPr txBox="1"/>
          <p:nvPr/>
        </p:nvSpPr>
        <p:spPr>
          <a:xfrm>
            <a:off x="929106" y="420558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방식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81C81-837A-C8CD-1524-BE6AA9849B85}"/>
              </a:ext>
            </a:extLst>
          </p:cNvPr>
          <p:cNvSpPr txBox="1"/>
          <p:nvPr/>
        </p:nvSpPr>
        <p:spPr>
          <a:xfrm>
            <a:off x="7140164" y="41529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현재 방식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8B2C104-7402-C166-6BB4-1395A2CAF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163" y="4667247"/>
            <a:ext cx="10081037" cy="4473460"/>
          </a:xfrm>
          <a:prstGeom prst="rect">
            <a:avLst/>
          </a:prstGeom>
        </p:spPr>
      </p:pic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C506325D-B481-173D-1F51-B96E8081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9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54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5136-D4D8-9B91-56B4-CC475F5A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02B23C-3EE2-77D4-ABF6-2196F42C93ED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응급도 격상 기능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 추론으로 병명을 확정 지은 뒤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병명별 심각한 증상의 데이터를 사용하여 환자의 응급도를 확정 짓는 기능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예시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코피는 기본적으로 </a:t>
            </a:r>
            <a:r>
              <a:rPr lang="ko-KR" altLang="en-US" sz="280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비응급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의 질병이지만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과다출혈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실신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외상을 동반할 시 매우 심각한 결과를 불러올 수 있으므로 </a:t>
            </a:r>
            <a:r>
              <a:rPr lang="ko-KR" altLang="en-US" sz="280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긴급</a:t>
            </a:r>
            <a:r>
              <a:rPr lang="ko-KR" altLang="en-US" sz="2800"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의 응급도로 격상 시켜 후속 조치를 시행</a:t>
            </a:r>
            <a:endParaRPr lang="en-US" altLang="ko-KR" sz="2800">
              <a:solidFill>
                <a:schemeClr val="tx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9C1A51B-D481-42D1-C61E-10FF412FB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FEC3D63C-6758-2DF8-9A68-4DBC84A721BC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개발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040B412-4160-EC1A-A78F-A77B05D03B5F}"/>
              </a:ext>
            </a:extLst>
          </p:cNvPr>
          <p:cNvSpPr/>
          <p:nvPr/>
        </p:nvSpPr>
        <p:spPr>
          <a:xfrm>
            <a:off x="3962400" y="7510311"/>
            <a:ext cx="2667000" cy="11239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병명 추론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3188B5F-F9B1-01DE-61C1-42697285BAF1}"/>
              </a:ext>
            </a:extLst>
          </p:cNvPr>
          <p:cNvSpPr/>
          <p:nvPr/>
        </p:nvSpPr>
        <p:spPr>
          <a:xfrm>
            <a:off x="10744200" y="7491261"/>
            <a:ext cx="2667000" cy="11239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>
                <a:solidFill>
                  <a:schemeClr val="bg1"/>
                </a:solidFill>
              </a:rPr>
              <a:t>후속 질문 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243973-83AC-A09B-F439-5361696BA0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60"/>
          <a:stretch>
            <a:fillRect/>
          </a:stretch>
        </p:blipFill>
        <p:spPr>
          <a:xfrm>
            <a:off x="9070975" y="5219700"/>
            <a:ext cx="6553200" cy="43607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40CCF8-75B6-2FEA-C196-A5ED19F65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725" y="5219700"/>
            <a:ext cx="5594350" cy="3257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E3BDF0-726C-4F48-C3DA-ABF78D8B8850}"/>
              </a:ext>
            </a:extLst>
          </p:cNvPr>
          <p:cNvSpPr txBox="1"/>
          <p:nvPr/>
        </p:nvSpPr>
        <p:spPr>
          <a:xfrm>
            <a:off x="2479675" y="8463442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</a:t>
            </a:r>
            <a:r>
              <a:rPr lang="en-US" altLang="ko-KR" sz="20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sz="20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증상 매핑 데이터 </a:t>
            </a:r>
            <a:endParaRPr lang="ko-KR" alt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9A9AEE-AB07-52CB-F9C1-B025B17FB605}"/>
              </a:ext>
            </a:extLst>
          </p:cNvPr>
          <p:cNvSpPr txBox="1"/>
          <p:nvPr/>
        </p:nvSpPr>
        <p:spPr>
          <a:xfrm>
            <a:off x="9070975" y="9632017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병명별 심각한 증상</a:t>
            </a:r>
            <a:endParaRPr lang="ko-KR" altLang="en-US" sz="2000"/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F77F2582-F877-0E12-6083-CB62DF64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10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748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CFB7-04B6-13EA-83A7-6337F77D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8DA974-3A66-8C83-4EB4-5E046BDD4993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위치 파악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응급도 확정을 끝낸 후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응급도에 따른 조치를 취하기 위한 과정 중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119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도움 요청을 위한 환자의 상세 위치를 파악하기 위해 사용자와 문답을 하는 기능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37ADC1A-6A1F-9FCD-2FAE-26C316F31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E4DA8193-A186-BDD1-E093-74DA0C284684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개발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45EED5-3E98-CADD-FF3A-FCFD94C1A1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77"/>
          <a:stretch>
            <a:fillRect/>
          </a:stretch>
        </p:blipFill>
        <p:spPr>
          <a:xfrm>
            <a:off x="3965575" y="3619500"/>
            <a:ext cx="10210800" cy="6397314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1898C9F5-CDF7-1744-C62F-14834057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11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231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05C5-33AF-54D5-38D4-69DD1C11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5442F91-EF46-031C-750A-770D5353CDAB}"/>
              </a:ext>
            </a:extLst>
          </p:cNvPr>
          <p:cNvSpPr/>
          <p:nvPr/>
        </p:nvSpPr>
        <p:spPr>
          <a:xfrm>
            <a:off x="996951" y="1422411"/>
            <a:ext cx="16148049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환자 정보 전달</a:t>
            </a: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 추론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응급도 확정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위치 파악이 끝난 후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최종 응급도가 </a:t>
            </a:r>
            <a:r>
              <a:rPr lang="ko-KR" altLang="en-US" sz="280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긴급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80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 경우 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119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도움 요청을 하기 위한 환자의 정보를 취합하고 전달하는 기능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전달 정보 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r>
              <a:rPr lang="ko-KR" altLang="en-US" sz="24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</a:t>
            </a:r>
            <a:endParaRPr lang="en-US" altLang="ko-KR" sz="24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r>
              <a:rPr lang="ko-KR" altLang="en-US" sz="24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응급도</a:t>
            </a:r>
            <a:endParaRPr lang="en-US" altLang="ko-KR" sz="24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r>
              <a:rPr lang="ko-KR" altLang="en-US" sz="24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증상</a:t>
            </a:r>
            <a:endParaRPr lang="en-US" altLang="ko-KR" sz="24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r>
              <a:rPr lang="ko-KR" altLang="en-US" sz="24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상세 위치</a:t>
            </a:r>
            <a:endParaRPr lang="en-US" altLang="ko-KR" sz="24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C1D62ED-8EA3-0C6D-3B7F-227634FE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3991B58D-80E6-9D2C-DB33-DA5B36BD1E01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수행 내용 </a:t>
            </a:r>
            <a:r>
              <a:rPr lang="en-US" altLang="ko-KR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개발</a:t>
            </a:r>
            <a:endParaRPr lang="ko-KR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953E5A-85DF-0F1B-682D-C0F76F80FE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11"/>
          <a:stretch>
            <a:fillRect/>
          </a:stretch>
        </p:blipFill>
        <p:spPr>
          <a:xfrm>
            <a:off x="4114800" y="3771902"/>
            <a:ext cx="12359255" cy="426719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D157A98-ED98-9F8D-2002-5CDBBD401E81}"/>
              </a:ext>
            </a:extLst>
          </p:cNvPr>
          <p:cNvCxnSpPr/>
          <p:nvPr/>
        </p:nvCxnSpPr>
        <p:spPr>
          <a:xfrm>
            <a:off x="3276600" y="5067300"/>
            <a:ext cx="228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BCD897B-A903-9B3A-F075-FC5792F30D1D}"/>
              </a:ext>
            </a:extLst>
          </p:cNvPr>
          <p:cNvCxnSpPr>
            <a:cxnSpLocks/>
          </p:cNvCxnSpPr>
          <p:nvPr/>
        </p:nvCxnSpPr>
        <p:spPr>
          <a:xfrm>
            <a:off x="3505200" y="5600700"/>
            <a:ext cx="2057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03ED811-BE29-8EC3-6B2A-4FF8A160D7AF}"/>
              </a:ext>
            </a:extLst>
          </p:cNvPr>
          <p:cNvCxnSpPr>
            <a:cxnSpLocks/>
          </p:cNvCxnSpPr>
          <p:nvPr/>
        </p:nvCxnSpPr>
        <p:spPr>
          <a:xfrm>
            <a:off x="3276600" y="6134100"/>
            <a:ext cx="228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DF8A9CA-0020-0576-3915-2CA05EFEFEDF}"/>
              </a:ext>
            </a:extLst>
          </p:cNvPr>
          <p:cNvCxnSpPr>
            <a:cxnSpLocks/>
          </p:cNvCxnSpPr>
          <p:nvPr/>
        </p:nvCxnSpPr>
        <p:spPr>
          <a:xfrm>
            <a:off x="3886200" y="6667500"/>
            <a:ext cx="1676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89AD816C-80CF-7348-3F68-15E8D4C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12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93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7F13-A120-1E9B-BAB5-1CF7751F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7AFAD12-5F9B-1311-868B-FD140171EC07}"/>
              </a:ext>
            </a:extLst>
          </p:cNvPr>
          <p:cNvSpPr txBox="1"/>
          <p:nvPr/>
        </p:nvSpPr>
        <p:spPr>
          <a:xfrm>
            <a:off x="3625850" y="4552950"/>
            <a:ext cx="11036300" cy="11811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66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2129834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45FAE-7438-D643-DEB9-F66732FE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D4263EC-E0B4-D248-F592-532A3BC67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66700" y="546100"/>
            <a:ext cx="1270000" cy="190500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9B578311-B743-5A98-67D3-5C503FFF31AF}"/>
              </a:ext>
            </a:extLst>
          </p:cNvPr>
          <p:cNvSpPr txBox="1"/>
          <p:nvPr/>
        </p:nvSpPr>
        <p:spPr>
          <a:xfrm>
            <a:off x="1244600" y="482600"/>
            <a:ext cx="13462000" cy="793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향후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449D40-A194-BDA8-1882-BD28E47A099E}"/>
              </a:ext>
            </a:extLst>
          </p:cNvPr>
          <p:cNvSpPr/>
          <p:nvPr/>
        </p:nvSpPr>
        <p:spPr>
          <a:xfrm>
            <a:off x="2001837" y="1485900"/>
            <a:ext cx="14284325" cy="5956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 처치 안내 기능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환자와의 문답 등 실시간 상호 작용을 통한 응급 처치 안내 기능 개발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Fallback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처리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코드가 정상 작동하지 않는 경우를 대비한 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fallback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설계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앱</a:t>
            </a:r>
            <a:r>
              <a:rPr lang="en-US" altLang="ko-KR" sz="3200" dirty="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3200" dirty="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3200" dirty="0" err="1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백엔드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에이전트 연동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실제 모바일 환경에서 에이전트가 작동하도록 앱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·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서버 연동 예정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2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 인터페이스 고도화 및 다중 세션 구조 개발</a:t>
            </a:r>
            <a:r>
              <a:rPr lang="en-US" altLang="ko-KR" sz="32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실제 서비스화를 고려한 </a:t>
            </a:r>
            <a:r>
              <a:rPr lang="en-US" altLang="ko-KR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UI </a:t>
            </a:r>
            <a:r>
              <a:rPr lang="ko-KR" altLang="en-US" sz="2800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개선 및 다중 사용자 대응 구조 설계</a:t>
            </a:r>
            <a:endParaRPr lang="en-US" altLang="ko-KR" sz="2800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6891C52-3B66-B146-C03A-D3EC90EC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pPr/>
              <a:t>14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798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7C9B-0282-6A4B-9F68-A0CDB24A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2B955FA-7D05-6B99-0E8B-A57E005E17CC}"/>
              </a:ext>
            </a:extLst>
          </p:cNvPr>
          <p:cNvSpPr txBox="1"/>
          <p:nvPr/>
        </p:nvSpPr>
        <p:spPr>
          <a:xfrm>
            <a:off x="3625850" y="4552950"/>
            <a:ext cx="11036300" cy="11811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60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질의 응답</a:t>
            </a:r>
          </a:p>
        </p:txBody>
      </p:sp>
    </p:spTree>
    <p:extLst>
      <p:ext uri="{BB962C8B-B14F-4D97-AF65-F5344CB8AC3E}">
        <p14:creationId xmlns:p14="http://schemas.microsoft.com/office/powerpoint/2010/main" val="3704185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DB44E5F-89A9-F262-879A-8A526E2D864D}"/>
              </a:ext>
            </a:extLst>
          </p:cNvPr>
          <p:cNvSpPr txBox="1"/>
          <p:nvPr/>
        </p:nvSpPr>
        <p:spPr>
          <a:xfrm>
            <a:off x="3625850" y="4552950"/>
            <a:ext cx="11036300" cy="11811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60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007 - 2010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473</Words>
  <Application>Microsoft Office PowerPoint</Application>
  <PresentationFormat>사용자 지정</PresentationFormat>
  <Paragraphs>100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G마켓 산스 TTF Bold</vt:lpstr>
      <vt:lpstr>G마켓 산스 TTF Medium</vt:lpstr>
      <vt:lpstr>Arial</vt:lpstr>
      <vt:lpstr>맑은 고딕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junhoo park</dc:creator>
  <cp:lastModifiedBy>박준후</cp:lastModifiedBy>
  <cp:revision>1025</cp:revision>
  <dcterms:created xsi:type="dcterms:W3CDTF">2006-08-16T00:00:00Z</dcterms:created>
  <dcterms:modified xsi:type="dcterms:W3CDTF">2025-09-09T02:48:32Z</dcterms:modified>
</cp:coreProperties>
</file>